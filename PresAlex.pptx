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256" r:id="rId3"/>
    <p:sldId id="411" r:id="rId4"/>
    <p:sldId id="438" r:id="rId5"/>
    <p:sldId id="435" r:id="rId6"/>
    <p:sldId id="421" r:id="rId7"/>
    <p:sldId id="420" r:id="rId8"/>
    <p:sldId id="434" r:id="rId9"/>
    <p:sldId id="430" r:id="rId10"/>
    <p:sldId id="453" r:id="rId11"/>
    <p:sldId id="454" r:id="rId12"/>
    <p:sldId id="455" r:id="rId13"/>
    <p:sldId id="456" r:id="rId14"/>
    <p:sldId id="457" r:id="rId15"/>
    <p:sldId id="460" r:id="rId16"/>
    <p:sldId id="46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72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6A95A-9123-436C-8EEB-81DCF7B0F37C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EDDBF2-280E-4E71-88A2-3B1206922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566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EDDBF2-280E-4E71-88A2-3B1206922E7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134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EDDBF2-280E-4E71-88A2-3B1206922E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9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BB0E7-41F5-AFA5-B80C-35E39CF5E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14E4A1-B69A-8E85-24A1-67C4274687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1C075-336A-EA7E-CD1D-86114B32D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18738-FAA0-4B97-AA5C-F941765F317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D91F7-CA75-EFB3-C432-9BDB5730D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21C0D-AB1F-CBDA-AFFB-75171099D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CF28C-7448-409A-A9AC-2181758D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9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B6BDE-A16E-9306-7476-89D715DB4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5CA04-2655-B4CC-55AE-D6DEB5BBC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0416E-CF5F-A562-F6E2-DD6628927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18738-FAA0-4B97-AA5C-F941765F317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589C7-0B30-F829-BB97-3993987EC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339A1-2B92-E6E6-674E-281FA99FA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CF28C-7448-409A-A9AC-2181758D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764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E5118-6994-361C-7DA7-46981822F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89D08-CA64-ED7C-9782-3000B8A96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80D04-1B52-EA61-82CF-B13FF98BB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18738-FAA0-4B97-AA5C-F941765F317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DF311-21AD-13AC-1643-4297D99CC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60E6E-00A2-1B33-D58F-2EA67321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CF28C-7448-409A-A9AC-2181758D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084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8589D-49F2-9CF6-7132-F38B096B1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5D4E0-92E4-373D-CBCF-0E9185DDCF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8E47E-938A-C1AB-A418-5DD6690467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B41A53-6504-9870-8FD6-E2DF8C378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18738-FAA0-4B97-AA5C-F941765F317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0F7AF-5317-83AA-2A91-9A2D9BAB3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746DD-E4BD-B6B7-F9D2-B64427688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CF28C-7448-409A-A9AC-2181758D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54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B0D53-99B4-9AD1-3ADB-E5C057649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B054B-4B84-CBCE-01F2-EED1A165E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4B65B0-F558-04FE-81B7-FAA75AE1C7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D4688F-F3C4-DC97-AF9C-D5DE4B722E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AC1A3A-A924-0A70-79DD-32CDC8E1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3605A5-D540-F32C-5C93-D80F2161B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18738-FAA0-4B97-AA5C-F941765F317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E3F3D9-265C-8AFA-E6CA-096678E0B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BFAE5C-30A8-65D8-E4A4-70D26D53F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CF28C-7448-409A-A9AC-2181758D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33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7B0A9-86FC-EA25-5843-3D69D78B5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88E8AB-6CC1-802B-BDB1-954D25EAF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18738-FAA0-4B97-AA5C-F941765F317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593A9F-35B9-FD4C-5A35-8CFE8EE06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A35BD-6521-EBA5-7A9B-D418C7CDD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CF28C-7448-409A-A9AC-2181758D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521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40A89F-CD9E-9E2F-60DD-E51712B22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18738-FAA0-4B97-AA5C-F941765F317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E8754F-AAC7-ACEA-7199-7B8F4B41F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2CFFD-74E6-B0A6-3C67-97F1F064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CF28C-7448-409A-A9AC-2181758D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412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9EFF7-61CA-6D7E-1EE0-C583872C3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2664E-2E37-C350-90B3-8AC20D963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9D3897-28F6-7B94-5754-CD02B7421E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F58A87-976D-1B6C-77A4-7AE817DDF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18738-FAA0-4B97-AA5C-F941765F317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B0D78-BF57-F2B1-600E-7D98FF8AB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8ADFFD-2A61-72BE-41F4-E904F2CFB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CF28C-7448-409A-A9AC-2181758D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364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8DDE7-76C6-C05F-520C-A67394DFF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BBDE02-4204-688A-96A9-6886B36740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5DB1E7-7AC9-CDB6-755B-2110F4BFC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A1E56-BF64-794A-2896-98EBB1DDF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18738-FAA0-4B97-AA5C-F941765F317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6754A-3DFD-68AD-5273-1AD7D9C0D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9A9B30-BE5F-34FB-CC53-293FB03E5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CF28C-7448-409A-A9AC-2181758D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40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FAED8-BB74-8061-6BBB-C80C129C6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248787-1C29-464F-28D9-67FAD400E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EA9F0-402F-1835-AC47-BF5ECE662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18738-FAA0-4B97-AA5C-F941765F317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E7BD8-BEF0-7344-6966-AE9793DAB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03C54-3105-7E41-EBB1-806F788F8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CF28C-7448-409A-A9AC-2181758D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768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AF7F3F-692B-8158-4694-163C2AD70F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2339D7-FC7E-B711-B0EF-514D050CB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935F0-906C-8545-0CD3-33B07B447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18738-FAA0-4B97-AA5C-F941765F317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91F8-66B0-6AC5-EC74-8BC16AC7C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67D81-A95E-9E5F-597C-AE4A3C9FE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CF28C-7448-409A-A9AC-2181758D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4151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69E75-01C8-56F1-87D2-EAF408EA3A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1D1E75-2427-D1E2-822C-F1A23C79E8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65A2B-3BF9-C915-7689-F62927A33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323B-6C86-4696-8840-5584E65D27B2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8EE47-FAB3-3CE6-E7F3-34EAFCC1B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B175D-5AF2-5933-AFD6-F3586DEDD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EF784-B0EF-4EB1-A7B3-7EA06B1D51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090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DC2E8-DE3B-D272-3C64-6771276A7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4A2F7-2F42-40E7-8CC5-E685C9604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9E511-87BD-5B08-6D80-F6C406AA9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323B-6C86-4696-8840-5584E65D27B2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96883-D416-1832-D037-92F22FECB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2FE5E-AED3-18A6-4650-958DAB2E1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EF784-B0EF-4EB1-A7B3-7EA06B1D51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9803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8F518-5C16-B5E8-C98A-C544B103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615AB-1327-9DB4-1AC4-00498E09D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B0389-6512-06A6-7116-D0CD629BD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323B-6C86-4696-8840-5584E65D27B2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9F581-9D40-EB00-5E2F-3B61C61A6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1991C-A781-FD93-F94D-F3E743C5B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EF784-B0EF-4EB1-A7B3-7EA06B1D51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877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77B79-446C-6FF0-2B38-3B18527CE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295B4-5DB7-1720-0133-F62556E1AC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34B0B3-C8EB-6968-8578-321494EA20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EB82E-5346-E304-B216-C7E434FB8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323B-6C86-4696-8840-5584E65D27B2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33491-AC72-217D-DD41-A39D95ADC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DBDA3B-1F4C-CB0D-36C8-0AECDEFCA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EF784-B0EF-4EB1-A7B3-7EA06B1D51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5938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C55FC-A968-3EB4-DDD7-48D4CE2B2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1B99F-577B-24D9-088D-EC370768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7A18BA-C95C-D927-46A8-B32E75688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0171E-A8DF-7DDD-DF36-CFA3F93A3D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5A34BA-A48E-B11E-CB11-CF7E8EF73C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76D78-D1FE-2907-FD56-6F07B9269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323B-6C86-4696-8840-5584E65D27B2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1EBEC8-DC04-5438-F3CC-F5092003B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2832A0-91E8-9519-6C12-064CB9F59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EF784-B0EF-4EB1-A7B3-7EA06B1D51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6316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0BD86-CC91-FBAD-F3D1-320916DDC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FA9ADB-A41F-D5A7-CC61-DF7840AE8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323B-6C86-4696-8840-5584E65D27B2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0D5CC4-E17A-136A-6E20-AFFAA9F70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F07000-6886-16B8-A03F-62A88D717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EF784-B0EF-4EB1-A7B3-7EA06B1D51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3620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C856E1-5EE1-D072-50F5-7603FD006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323B-6C86-4696-8840-5584E65D27B2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DFEDD1-9717-19A2-FC7E-5EDD7E61E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FE3C7-EA6D-CCDC-AA49-A3568AED2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EF784-B0EF-4EB1-A7B3-7EA06B1D51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3294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1029F-7E9F-ECDA-B403-E4DFE4F02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C9A36-3BBC-69D6-7483-D5AD01EF6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0DE9D0-98C2-831D-0BBE-49BC1178C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369FD-1C5C-D27E-A373-771AACCC7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323B-6C86-4696-8840-5584E65D27B2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85B7F2-668B-AB18-DE8F-8C698C8A7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22FB2-434D-2064-EE7F-49C36E9E9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EF784-B0EF-4EB1-A7B3-7EA06B1D51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9413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4D21F-7CB4-24EF-D788-C567D02CE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7BE04-5618-4DFD-94B1-3FAA51F5E5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BC47C-BA75-5FD3-D239-05B898B52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E6B3AC-A9C0-3FD9-6362-CE85F15A1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323B-6C86-4696-8840-5584E65D27B2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2E113E-B3CF-82E5-674E-B43A0D37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5B0525-B211-6FDC-4815-143DF3D38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EF784-B0EF-4EB1-A7B3-7EA06B1D51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825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CE9DA-BF1A-8E35-EF31-7ED57D9D9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A7874F-8D80-BA24-2718-7A3806E07E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6B04E-E4FE-3F53-9350-D31C0520E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323B-6C86-4696-8840-5584E65D27B2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C841E-851E-71A0-7595-B6A3A8769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C0163-62A6-413A-0D58-FBE382DC3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EF784-B0EF-4EB1-A7B3-7EA06B1D51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5670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5E0A57-D14F-31E8-F9BE-BB2025FC25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7CC89B-9D57-A423-5FFE-19F73116A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AD843-B55F-9FC5-A997-096CEDCFD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323B-6C86-4696-8840-5584E65D27B2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EBF67-CCBA-BB68-95B3-6E25CDA9D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EE613-8295-0FD5-55DE-130B6260C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EF784-B0EF-4EB1-A7B3-7EA06B1D51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123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557CC0-B6F3-0A28-C382-1F22338E1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3FEFA-8EC5-6889-4298-B4F367E4B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9A933-FAAC-2938-1CCC-A80C1C3032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618738-FAA0-4B97-AA5C-F941765F3175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24A06-8B48-89DF-A8BD-1ED8B7C3C8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7A58A-34F2-78A8-54EF-DC5F02BC79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2CF28C-7448-409A-A9AC-2181758D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19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7809C5-5D5E-065E-C331-6B443D932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E9A84-FED3-D776-C903-9FC808CD3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1184F-6C4F-1162-A827-1DC9467847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DE323B-6C86-4696-8840-5584E65D27B2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26524-B0AD-BC5F-87F2-3289920749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23729-071B-BA6E-FF59-266924B55A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3EF784-B0EF-4EB1-A7B3-7EA06B1D511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810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8ECF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E8ECF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E8ECF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8ECF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8ECF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8ECF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8ECF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8ECF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8ECF1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E8ECF1"/>
          </a:solidFill>
        </a:defRPr>
      </a:defPPr>
      <a:lvl1pPr marL="0" algn="l" defTabSz="914400" rtl="0" eaLnBrk="1" latinLnBrk="0" hangingPunct="1">
        <a:defRPr sz="1800" kern="1200">
          <a:solidFill>
            <a:srgbClr val="E8ECF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E8ECF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E8ECF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E8ECF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E8ECF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E8ECF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E8ECF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E8ECF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E8ECF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26A38-29A0-C2EA-BF6E-2CB8AAEB9F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803080-B01E-A237-54AB-BAD7EFA6BF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606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75229-0258-D39B-F55B-58410E39BB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000" y="1905000"/>
            <a:ext cx="10160000" cy="1905000"/>
          </a:xfrm>
        </p:spPr>
        <p:txBody>
          <a:bodyPr/>
          <a:lstStyle/>
          <a:p>
            <a:pPr algn="l"/>
            <a:r>
              <a:rPr lang="en-US" sz="4400" b="1" dirty="0">
                <a:solidFill>
                  <a:srgbClr val="4D9FE6"/>
                </a:solidFill>
              </a:rPr>
              <a:t>FlowR</a:t>
            </a:r>
            <a:r>
              <a:rPr lang="en-US" sz="4400" b="1" dirty="0">
                <a:solidFill>
                  <a:srgbClr val="FFFFFF"/>
                </a:solidFill>
              </a:rPr>
              <a:t> — Flowing from Sparse to Dense 3D Reconstructions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AF5BB4-C3C7-80DC-D814-B702784AF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6000" y="4013200"/>
            <a:ext cx="10160000" cy="584200"/>
          </a:xfrm>
        </p:spPr>
        <p:txBody>
          <a:bodyPr/>
          <a:lstStyle/>
          <a:p>
            <a:pPr algn="l"/>
            <a:r>
              <a:rPr lang="en-US" sz="1700" dirty="0">
                <a:solidFill>
                  <a:srgbClr val="9FB3C8"/>
                </a:solidFill>
              </a:rPr>
              <a:t>Seminar: 3D Computer Vision</a:t>
            </a:r>
          </a:p>
        </p:txBody>
      </p:sp>
      <p:sp>
        <p:nvSpPr>
          <p:cNvPr id="50" name="Presenter"/>
          <p:cNvSpPr/>
          <p:nvPr/>
        </p:nvSpPr>
        <p:spPr>
          <a:xfrm>
            <a:off x="1016000" y="4724400"/>
            <a:ext cx="10160000" cy="355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8ECF1"/>
                </a:solidFill>
                <a:effectLst/>
                <a:uLnTx/>
                <a:uFillTx/>
                <a:latin typeface="Arial" panose="02110004020202020204"/>
                <a:ea typeface="+mn-ea"/>
                <a:cs typeface="+mn-cs"/>
              </a:rPr>
              <a:t>Alexander Cornett</a:t>
            </a:r>
          </a:p>
        </p:txBody>
      </p:sp>
      <p:sp>
        <p:nvSpPr>
          <p:cNvPr id="70" name="AccentRule"/>
          <p:cNvSpPr/>
          <p:nvPr/>
        </p:nvSpPr>
        <p:spPr>
          <a:xfrm>
            <a:off x="1041400" y="3810000"/>
            <a:ext cx="1524000" cy="50800"/>
          </a:xfrm>
          <a:prstGeom prst="rect">
            <a:avLst/>
          </a:prstGeom>
          <a:solidFill>
            <a:srgbClr val="4D9FE6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E8ECF1"/>
              </a:solidFill>
              <a:effectLst/>
              <a:uLnTx/>
              <a:uFillTx/>
              <a:latin typeface="Arial" panose="02110004020202020204"/>
              <a:ea typeface="+mn-ea"/>
              <a:cs typeface="+mn-cs"/>
            </a:endParaRPr>
          </a:p>
        </p:txBody>
      </p:sp>
      <p:sp>
        <p:nvSpPr>
          <p:cNvPr id="6" name="DensifyArrow">
            <a:extLst>
              <a:ext uri="{FF2B5EF4-FFF2-40B4-BE49-F238E27FC236}">
                <a16:creationId xmlns:a16="http://schemas.microsoft.com/office/drawing/2014/main" id="{FCAFF46C-7DBF-EA43-1770-747F7E4E2DC2}"/>
              </a:ext>
            </a:extLst>
          </p:cNvPr>
          <p:cNvSpPr/>
          <p:nvPr/>
        </p:nvSpPr>
        <p:spPr>
          <a:xfrm>
            <a:off x="7249160" y="5404294"/>
            <a:ext cx="711200" cy="184912"/>
          </a:xfrm>
          <a:prstGeom prst="rightArrow">
            <a:avLst/>
          </a:prstGeom>
          <a:solidFill>
            <a:srgbClr val="0065BD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9B8B39-AED8-B317-065A-9F63FF5A09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456" y="4749800"/>
            <a:ext cx="3810000" cy="1485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E94F730-E9B3-FD18-7822-2F6EA04D40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776" y="4702175"/>
            <a:ext cx="4029075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361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DB8F1-FD30-C43F-1EA1-AE8659E4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200" name="F1"/>
          <p:cNvSpPr/>
          <p:nvPr/>
        </p:nvSpPr>
        <p:spPr>
          <a:xfrm>
            <a:off x="838200" y="1905000"/>
            <a:ext cx="5969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The challenge</a:t>
            </a:r>
          </a:p>
          <a:p>
            <a:pPr algn="l">
              <a:spcBef>
                <a:spcPts val="400"/>
              </a:spcBef>
            </a:pPr>
            <a:r>
              <a:rPr lang="en-US" sz="1600" dirty="0">
                <a:solidFill>
                  <a:srgbClr val="B8C9DA"/>
                </a:solidFill>
              </a:rPr>
              <a:t>Novel view synthesis </a:t>
            </a:r>
            <a:r>
              <a:rPr lang="en-US" sz="1600" b="1" i="1" dirty="0">
                <a:solidFill>
                  <a:srgbClr val="E8C547"/>
                </a:solidFill>
              </a:rPr>
              <a:t>struggles</a:t>
            </a:r>
            <a:r>
              <a:rPr lang="en-US" sz="1600" dirty="0">
                <a:solidFill>
                  <a:srgbClr val="B8C9DA"/>
                </a:solidFill>
              </a:rPr>
              <a:t> when point clouds are sparse since quality collapses wherever input views are missing.</a:t>
            </a:r>
          </a:p>
        </p:txBody>
      </p:sp>
      <p:sp>
        <p:nvSpPr>
          <p:cNvPr id="201" name="F2"/>
          <p:cNvSpPr/>
          <p:nvPr/>
        </p:nvSpPr>
        <p:spPr>
          <a:xfrm>
            <a:off x="838200" y="3251200"/>
            <a:ext cx="5969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Input</a:t>
            </a:r>
          </a:p>
          <a:p>
            <a:pPr algn="l">
              <a:spcBef>
                <a:spcPts val="400"/>
              </a:spcBef>
            </a:pPr>
            <a:r>
              <a:rPr lang="en-US" sz="1600" dirty="0">
                <a:solidFill>
                  <a:srgbClr val="B8C9DA"/>
                </a:solidFill>
              </a:rPr>
              <a:t>A </a:t>
            </a:r>
            <a:r>
              <a:rPr lang="en-US" sz="1600" b="1" i="1" dirty="0">
                <a:solidFill>
                  <a:srgbClr val="E8C547"/>
                </a:solidFill>
              </a:rPr>
              <a:t>sparse</a:t>
            </a:r>
            <a:r>
              <a:rPr lang="en-US" sz="1600" dirty="0">
                <a:solidFill>
                  <a:srgbClr val="B8C9DA"/>
                </a:solidFill>
              </a:rPr>
              <a:t> 3D Gaussian splat with 12 or 24 views</a:t>
            </a:r>
          </a:p>
        </p:txBody>
      </p:sp>
      <p:sp>
        <p:nvSpPr>
          <p:cNvPr id="202" name="F3"/>
          <p:cNvSpPr/>
          <p:nvPr/>
        </p:nvSpPr>
        <p:spPr>
          <a:xfrm>
            <a:off x="838200" y="4597400"/>
            <a:ext cx="5969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Output</a:t>
            </a:r>
          </a:p>
          <a:p>
            <a:pPr algn="l">
              <a:spcBef>
                <a:spcPts val="400"/>
              </a:spcBef>
            </a:pPr>
            <a:r>
              <a:rPr lang="en-US" sz="1600" dirty="0">
                <a:solidFill>
                  <a:srgbClr val="B8C9DA"/>
                </a:solidFill>
              </a:rPr>
              <a:t>The unknown views as pictures, generated using the represented neural network flowR.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4CE715-FDD6-7FD8-5542-C8BE9462E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000" y="2286000"/>
            <a:ext cx="3556000" cy="1981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9DED3F-E0CC-2050-CDAA-6E2DF9688C8F}"/>
              </a:ext>
            </a:extLst>
          </p:cNvPr>
          <p:cNvSpPr txBox="1"/>
          <p:nvPr/>
        </p:nvSpPr>
        <p:spPr>
          <a:xfrm>
            <a:off x="7747000" y="1905000"/>
            <a:ext cx="3556000" cy="330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>
                <a:solidFill>
                  <a:srgbClr val="FFFFFF"/>
                </a:solidFill>
              </a:rPr>
              <a:t>Splatfacto</a:t>
            </a:r>
            <a:endParaRPr lang="en-US" sz="1600"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051954-5583-4CBE-792D-C6A0EE195B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65"/>
          <a:stretch>
            <a:fillRect/>
          </a:stretch>
        </p:blipFill>
        <p:spPr>
          <a:xfrm>
            <a:off x="7747000" y="4826000"/>
            <a:ext cx="3556000" cy="1981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191BCC-76C5-70A7-9A83-19230314E1A7}"/>
              </a:ext>
            </a:extLst>
          </p:cNvPr>
          <p:cNvSpPr txBox="1"/>
          <p:nvPr/>
        </p:nvSpPr>
        <p:spPr>
          <a:xfrm>
            <a:off x="7747000" y="4445000"/>
            <a:ext cx="3556000" cy="330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>
                <a:solidFill>
                  <a:srgbClr val="FFFFFF"/>
                </a:solidFill>
              </a:rPr>
              <a:t>flowR</a:t>
            </a:r>
            <a:endParaRPr lang="en-US" sz="1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378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0C2C4-86A2-A467-7BAD-67B6B0B5F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000" b="1" dirty="0"/>
              <a:t>Why </a:t>
            </a:r>
            <a:r>
              <a:rPr lang="en-US" sz="3000" b="1" dirty="0" err="1"/>
              <a:t>flowR</a:t>
            </a:r>
            <a:r>
              <a:rPr lang="en-US" sz="3000" b="1" dirty="0"/>
              <a:t> is important</a:t>
            </a:r>
          </a:p>
        </p:txBody>
      </p:sp>
      <p:sp>
        <p:nvSpPr>
          <p:cNvPr id="151" name="BottleneckHdr"/>
          <p:cNvSpPr/>
          <p:nvPr/>
        </p:nvSpPr>
        <p:spPr>
          <a:xfrm>
            <a:off x="838200" y="1905000"/>
            <a:ext cx="5969000" cy="406400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/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Missing reality</a:t>
            </a:r>
          </a:p>
          <a:p>
            <a:pPr algn="l">
              <a:spcBef>
                <a:spcPts val="400"/>
              </a:spcBef>
            </a:pPr>
            <a:r>
              <a:rPr lang="en-US" sz="1600" dirty="0">
                <a:solidFill>
                  <a:srgbClr val="B8C9DA"/>
                </a:solidFill>
              </a:rPr>
              <a:t>Real captures are never dense enough and often miss crucial features. flowR provides a method to generate these crucial views.</a:t>
            </a:r>
          </a:p>
          <a:p>
            <a:pPr algn="l">
              <a:spcBef>
                <a:spcPts val="1200"/>
              </a:spcBef>
            </a:pPr>
            <a:r>
              <a:rPr lang="en-US" sz="2000" b="1" dirty="0">
                <a:solidFill>
                  <a:srgbClr val="FFFFFF"/>
                </a:solidFill>
              </a:rPr>
              <a:t>Applications in VR/AR</a:t>
            </a:r>
          </a:p>
          <a:p>
            <a:pPr algn="l">
              <a:spcBef>
                <a:spcPts val="400"/>
              </a:spcBef>
            </a:pPr>
            <a:r>
              <a:rPr lang="en-US" sz="1600" dirty="0">
                <a:solidFill>
                  <a:srgbClr val="B8C9DA"/>
                </a:solidFill>
              </a:rPr>
              <a:t>The paper focuses on AR and VR, where you need a fully reconstructed environment to deliver a truly immersive experience.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79D2ED-A45C-2E1B-EA24-29F542055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3485303"/>
            <a:ext cx="1651000" cy="6493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3BC006-85AB-0F79-4B28-6155806FF3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3484803"/>
            <a:ext cx="1651000" cy="650393"/>
          </a:xfrm>
          <a:prstGeom prst="rect">
            <a:avLst/>
          </a:prstGeom>
        </p:spPr>
      </p:pic>
      <p:sp>
        <p:nvSpPr>
          <p:cNvPr id="10" name="TumArrow">
            <a:extLst>
              <a:ext uri="{FF2B5EF4-FFF2-40B4-BE49-F238E27FC236}">
                <a16:creationId xmlns:a16="http://schemas.microsoft.com/office/drawing/2014/main" id="{1BDCD58E-7372-4C37-B9E2-C441F691F904}"/>
              </a:ext>
            </a:extLst>
          </p:cNvPr>
          <p:cNvSpPr/>
          <p:nvPr/>
        </p:nvSpPr>
        <p:spPr>
          <a:xfrm>
            <a:off x="9347200" y="3670300"/>
            <a:ext cx="558800" cy="279400"/>
          </a:xfrm>
          <a:prstGeom prst="rightArrow">
            <a:avLst/>
          </a:prstGeom>
          <a:solidFill>
            <a:srgbClr val="9FB3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43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4C474-727E-F269-68E8-50BB22B51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3A630A88-628F-4A5D-8700-40995D2101C2}"/>
              </a:ext>
            </a:extLst>
          </p:cNvPr>
          <p:cNvSpPr/>
          <p:nvPr/>
        </p:nvSpPr>
        <p:spPr>
          <a:xfrm>
            <a:off x="838200" y="5562600"/>
            <a:ext cx="10515600" cy="12700"/>
          </a:xfrm>
          <a:prstGeom prst="rect">
            <a:avLst/>
          </a:prstGeom>
          <a:solidFill>
            <a:srgbClr val="2A384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92FE2B6-E846-4758-BF17-A28E2FE2DA1C}"/>
              </a:ext>
            </a:extLst>
          </p:cNvPr>
          <p:cNvSpPr/>
          <p:nvPr/>
        </p:nvSpPr>
        <p:spPr>
          <a:xfrm>
            <a:off x="838200" y="4978400"/>
            <a:ext cx="10515600" cy="12700"/>
          </a:xfrm>
          <a:prstGeom prst="rect">
            <a:avLst/>
          </a:prstGeom>
          <a:solidFill>
            <a:srgbClr val="2A384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FA7FEF9-504A-4F04-B3C8-C9CF270BA147}"/>
              </a:ext>
            </a:extLst>
          </p:cNvPr>
          <p:cNvSpPr/>
          <p:nvPr/>
        </p:nvSpPr>
        <p:spPr>
          <a:xfrm>
            <a:off x="838200" y="4394200"/>
            <a:ext cx="10515600" cy="12700"/>
          </a:xfrm>
          <a:prstGeom prst="rect">
            <a:avLst/>
          </a:prstGeom>
          <a:solidFill>
            <a:srgbClr val="2A384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BEE58D-1A00-4511-B9A7-21A84B352705}"/>
              </a:ext>
            </a:extLst>
          </p:cNvPr>
          <p:cNvSpPr/>
          <p:nvPr/>
        </p:nvSpPr>
        <p:spPr>
          <a:xfrm>
            <a:off x="838200" y="3810000"/>
            <a:ext cx="10515600" cy="12700"/>
          </a:xfrm>
          <a:prstGeom prst="rect">
            <a:avLst/>
          </a:prstGeom>
          <a:solidFill>
            <a:srgbClr val="2A384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616BFFA-DC66-4D25-9CAA-2366CFCA72B1}"/>
              </a:ext>
            </a:extLst>
          </p:cNvPr>
          <p:cNvSpPr/>
          <p:nvPr/>
        </p:nvSpPr>
        <p:spPr>
          <a:xfrm>
            <a:off x="838200" y="3225800"/>
            <a:ext cx="10515600" cy="12700"/>
          </a:xfrm>
          <a:prstGeom prst="rect">
            <a:avLst/>
          </a:prstGeom>
          <a:solidFill>
            <a:srgbClr val="2A384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A4F3EE6-A20A-4CD8-BFDC-E9B559DF1ED1}"/>
              </a:ext>
            </a:extLst>
          </p:cNvPr>
          <p:cNvSpPr/>
          <p:nvPr/>
        </p:nvSpPr>
        <p:spPr>
          <a:xfrm>
            <a:off x="838200" y="2628900"/>
            <a:ext cx="10515600" cy="19050"/>
          </a:xfrm>
          <a:prstGeom prst="rect">
            <a:avLst/>
          </a:prstGeom>
          <a:solidFill>
            <a:srgbClr val="4A5A6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0D6CDE-EC38-4260-6B0C-574F078D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000" b="1" dirty="0"/>
              <a:t>Problems with existing methods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C5B13B-0130-4E12-AED4-5DF8AD3AE4B9}"/>
              </a:ext>
            </a:extLst>
          </p:cNvPr>
          <p:cNvSpPr txBox="1"/>
          <p:nvPr/>
        </p:nvSpPr>
        <p:spPr>
          <a:xfrm>
            <a:off x="2743200" y="2159000"/>
            <a:ext cx="1397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Base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BBAEFC-8392-4B95-A4D2-39CA0076524C}"/>
              </a:ext>
            </a:extLst>
          </p:cNvPr>
          <p:cNvSpPr txBox="1"/>
          <p:nvPr/>
        </p:nvSpPr>
        <p:spPr>
          <a:xfrm>
            <a:off x="4140200" y="2159000"/>
            <a:ext cx="16764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Generative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0660EA-122F-490D-8351-5F647FBD6ED7}"/>
              </a:ext>
            </a:extLst>
          </p:cNvPr>
          <p:cNvSpPr txBox="1"/>
          <p:nvPr/>
        </p:nvSpPr>
        <p:spPr>
          <a:xfrm>
            <a:off x="5816600" y="2159000"/>
            <a:ext cx="16764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Sparse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E58212-0611-4887-ADCA-A3776ACA31DD}"/>
              </a:ext>
            </a:extLst>
          </p:cNvPr>
          <p:cNvSpPr txBox="1"/>
          <p:nvPr/>
        </p:nvSpPr>
        <p:spPr>
          <a:xfrm>
            <a:off x="7493000" y="2159000"/>
            <a:ext cx="16764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Dense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F6BB3A-C87E-492B-8719-4A24B12D222B}"/>
              </a:ext>
            </a:extLst>
          </p:cNvPr>
          <p:cNvSpPr txBox="1"/>
          <p:nvPr/>
        </p:nvSpPr>
        <p:spPr>
          <a:xfrm>
            <a:off x="9169400" y="2159000"/>
            <a:ext cx="16764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Scalable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A95942-A685-4D12-A59A-820FBA1D0B51}"/>
              </a:ext>
            </a:extLst>
          </p:cNvPr>
          <p:cNvSpPr txBox="1"/>
          <p:nvPr/>
        </p:nvSpPr>
        <p:spPr>
          <a:xfrm>
            <a:off x="838200" y="2692400"/>
            <a:ext cx="19050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>
                <a:solidFill>
                  <a:srgbClr val="9FB3C8"/>
                </a:solidFill>
                <a:latin typeface="Arial"/>
                <a:cs typeface="Arial"/>
              </a:rPr>
              <a:t>Splatfacto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813C86-F4EF-483A-9878-29E39D7DFC41}"/>
              </a:ext>
            </a:extLst>
          </p:cNvPr>
          <p:cNvSpPr txBox="1"/>
          <p:nvPr/>
        </p:nvSpPr>
        <p:spPr>
          <a:xfrm>
            <a:off x="2743200" y="2692400"/>
            <a:ext cx="13970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00">
                <a:solidFill>
                  <a:srgbClr val="9FB3C8"/>
                </a:solidFill>
                <a:latin typeface="Arial"/>
                <a:cs typeface="Arial"/>
              </a:rPr>
              <a:t>3DGS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191F0E5-A715-4A0F-B7A9-9ABC8E640567}"/>
              </a:ext>
            </a:extLst>
          </p:cNvPr>
          <p:cNvSpPr/>
          <p:nvPr/>
        </p:nvSpPr>
        <p:spPr>
          <a:xfrm>
            <a:off x="4851400" y="2857500"/>
            <a:ext cx="254000" cy="254000"/>
          </a:xfrm>
          <a:prstGeom prst="ellipse">
            <a:avLst/>
          </a:prstGeom>
          <a:solidFill>
            <a:srgbClr val="D958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3E20C04-4E3E-4D6E-807B-A19466FD2D67}"/>
              </a:ext>
            </a:extLst>
          </p:cNvPr>
          <p:cNvSpPr/>
          <p:nvPr/>
        </p:nvSpPr>
        <p:spPr>
          <a:xfrm>
            <a:off x="6527800" y="2857500"/>
            <a:ext cx="254000" cy="254000"/>
          </a:xfrm>
          <a:prstGeom prst="ellipse">
            <a:avLst/>
          </a:prstGeom>
          <a:solidFill>
            <a:srgbClr val="D958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C522F41-6DDE-413E-8893-8AABA52E0829}"/>
              </a:ext>
            </a:extLst>
          </p:cNvPr>
          <p:cNvSpPr/>
          <p:nvPr/>
        </p:nvSpPr>
        <p:spPr>
          <a:xfrm>
            <a:off x="8204200" y="2857500"/>
            <a:ext cx="254000" cy="254000"/>
          </a:xfrm>
          <a:prstGeom prst="ellipse">
            <a:avLst/>
          </a:prstGeom>
          <a:solidFill>
            <a:srgbClr val="3FB68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303D51C-4EE3-4D06-81BB-EAA9EC3ADD94}"/>
              </a:ext>
            </a:extLst>
          </p:cNvPr>
          <p:cNvSpPr/>
          <p:nvPr/>
        </p:nvSpPr>
        <p:spPr>
          <a:xfrm>
            <a:off x="9880600" y="2857500"/>
            <a:ext cx="254000" cy="254000"/>
          </a:xfrm>
          <a:prstGeom prst="ellipse">
            <a:avLst/>
          </a:prstGeom>
          <a:solidFill>
            <a:srgbClr val="3FB68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2980B0-A49B-4D0C-AD01-EDDDDBEA6AB8}"/>
              </a:ext>
            </a:extLst>
          </p:cNvPr>
          <p:cNvSpPr txBox="1"/>
          <p:nvPr/>
        </p:nvSpPr>
        <p:spPr>
          <a:xfrm>
            <a:off x="838200" y="3276600"/>
            <a:ext cx="19050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>
                <a:solidFill>
                  <a:srgbClr val="9FB3C8"/>
                </a:solidFill>
                <a:latin typeface="Arial"/>
                <a:cs typeface="Arial"/>
              </a:rPr>
              <a:t>InstantSplat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64CE22-AFA5-47C0-8B17-702BCDEB44B6}"/>
              </a:ext>
            </a:extLst>
          </p:cNvPr>
          <p:cNvSpPr txBox="1"/>
          <p:nvPr/>
        </p:nvSpPr>
        <p:spPr>
          <a:xfrm>
            <a:off x="2743200" y="3276600"/>
            <a:ext cx="13970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00">
                <a:solidFill>
                  <a:srgbClr val="9FB3C8"/>
                </a:solidFill>
                <a:latin typeface="Arial"/>
                <a:cs typeface="Arial"/>
              </a:rPr>
              <a:t>3DGS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A6A66B3-80E7-4B72-93E0-FDEE51318345}"/>
              </a:ext>
            </a:extLst>
          </p:cNvPr>
          <p:cNvSpPr/>
          <p:nvPr/>
        </p:nvSpPr>
        <p:spPr>
          <a:xfrm>
            <a:off x="6527800" y="3441700"/>
            <a:ext cx="254000" cy="254000"/>
          </a:xfrm>
          <a:prstGeom prst="ellipse">
            <a:avLst/>
          </a:prstGeom>
          <a:solidFill>
            <a:srgbClr val="3FB68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077CD36-AAF5-434F-88FE-8661B2DCF88B}"/>
              </a:ext>
            </a:extLst>
          </p:cNvPr>
          <p:cNvSpPr/>
          <p:nvPr/>
        </p:nvSpPr>
        <p:spPr>
          <a:xfrm>
            <a:off x="8204200" y="3441700"/>
            <a:ext cx="254000" cy="254000"/>
          </a:xfrm>
          <a:prstGeom prst="ellipse">
            <a:avLst/>
          </a:prstGeom>
          <a:solidFill>
            <a:srgbClr val="D958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B7D88E2-7198-46B2-BC35-FFD91C410436}"/>
              </a:ext>
            </a:extLst>
          </p:cNvPr>
          <p:cNvSpPr/>
          <p:nvPr/>
        </p:nvSpPr>
        <p:spPr>
          <a:xfrm>
            <a:off x="9880600" y="3441700"/>
            <a:ext cx="254000" cy="254000"/>
          </a:xfrm>
          <a:prstGeom prst="ellipse">
            <a:avLst/>
          </a:prstGeom>
          <a:solidFill>
            <a:srgbClr val="D958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17269D-B943-435C-8F3E-4A65D7854BF1}"/>
              </a:ext>
            </a:extLst>
          </p:cNvPr>
          <p:cNvSpPr txBox="1"/>
          <p:nvPr/>
        </p:nvSpPr>
        <p:spPr>
          <a:xfrm>
            <a:off x="838200" y="3860800"/>
            <a:ext cx="19050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>
                <a:solidFill>
                  <a:srgbClr val="9FB3C8"/>
                </a:solidFill>
                <a:latin typeface="Arial"/>
                <a:cs typeface="Arial"/>
              </a:rPr>
              <a:t>ViewCrafter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2BE728-0DB4-4D84-A607-4D5F9CB445E3}"/>
              </a:ext>
            </a:extLst>
          </p:cNvPr>
          <p:cNvSpPr txBox="1"/>
          <p:nvPr/>
        </p:nvSpPr>
        <p:spPr>
          <a:xfrm>
            <a:off x="2743200" y="3860800"/>
            <a:ext cx="13970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00">
                <a:solidFill>
                  <a:srgbClr val="9FB3C8"/>
                </a:solidFill>
                <a:latin typeface="Arial"/>
                <a:cs typeface="Arial"/>
              </a:rPr>
              <a:t>Diffusion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1C66CEE-E24F-44CF-815A-7E1D4A6A8C20}"/>
              </a:ext>
            </a:extLst>
          </p:cNvPr>
          <p:cNvSpPr/>
          <p:nvPr/>
        </p:nvSpPr>
        <p:spPr>
          <a:xfrm>
            <a:off x="4851400" y="4025900"/>
            <a:ext cx="254000" cy="254000"/>
          </a:xfrm>
          <a:prstGeom prst="ellipse">
            <a:avLst/>
          </a:prstGeom>
          <a:solidFill>
            <a:srgbClr val="3FB68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8AD368F-88D0-4FD3-99A9-EDC81E4596AE}"/>
              </a:ext>
            </a:extLst>
          </p:cNvPr>
          <p:cNvSpPr/>
          <p:nvPr/>
        </p:nvSpPr>
        <p:spPr>
          <a:xfrm>
            <a:off x="6527800" y="4025900"/>
            <a:ext cx="254000" cy="254000"/>
          </a:xfrm>
          <a:prstGeom prst="ellipse">
            <a:avLst/>
          </a:prstGeom>
          <a:solidFill>
            <a:srgbClr val="3FB68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7F3F1A9-2FC5-401F-B529-14FF512C3862}"/>
              </a:ext>
            </a:extLst>
          </p:cNvPr>
          <p:cNvSpPr/>
          <p:nvPr/>
        </p:nvSpPr>
        <p:spPr>
          <a:xfrm>
            <a:off x="8204200" y="4025900"/>
            <a:ext cx="254000" cy="254000"/>
          </a:xfrm>
          <a:prstGeom prst="ellipse">
            <a:avLst/>
          </a:prstGeom>
          <a:solidFill>
            <a:srgbClr val="D958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BBCB5E6-DBCC-447D-9F85-EF0438CF5465}"/>
              </a:ext>
            </a:extLst>
          </p:cNvPr>
          <p:cNvSpPr/>
          <p:nvPr/>
        </p:nvSpPr>
        <p:spPr>
          <a:xfrm>
            <a:off x="9880600" y="4025900"/>
            <a:ext cx="254000" cy="254000"/>
          </a:xfrm>
          <a:prstGeom prst="ellipse">
            <a:avLst/>
          </a:prstGeom>
          <a:solidFill>
            <a:srgbClr val="D958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A44D70-8DC3-448F-A990-FED856B4C9ED}"/>
              </a:ext>
            </a:extLst>
          </p:cNvPr>
          <p:cNvSpPr txBox="1"/>
          <p:nvPr/>
        </p:nvSpPr>
        <p:spPr>
          <a:xfrm>
            <a:off x="838200" y="4445000"/>
            <a:ext cx="19050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>
                <a:solidFill>
                  <a:srgbClr val="9FB3C8"/>
                </a:solidFill>
                <a:latin typeface="Arial"/>
                <a:cs typeface="Arial"/>
              </a:rPr>
              <a:t>GANeRF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AF17B0-E9B5-4DDD-B486-8DEF60E19E4A}"/>
              </a:ext>
            </a:extLst>
          </p:cNvPr>
          <p:cNvSpPr txBox="1"/>
          <p:nvPr/>
        </p:nvSpPr>
        <p:spPr>
          <a:xfrm>
            <a:off x="2743200" y="4445000"/>
            <a:ext cx="13970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00">
                <a:solidFill>
                  <a:srgbClr val="9FB3C8"/>
                </a:solidFill>
                <a:latin typeface="Arial"/>
                <a:cs typeface="Arial"/>
              </a:rPr>
              <a:t>NeRF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83CD3F9-18F5-40C1-8BE1-C9AC6E673386}"/>
              </a:ext>
            </a:extLst>
          </p:cNvPr>
          <p:cNvSpPr/>
          <p:nvPr/>
        </p:nvSpPr>
        <p:spPr>
          <a:xfrm>
            <a:off x="4851400" y="4610100"/>
            <a:ext cx="254000" cy="254000"/>
          </a:xfrm>
          <a:prstGeom prst="ellipse">
            <a:avLst/>
          </a:prstGeom>
          <a:solidFill>
            <a:srgbClr val="E8C5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FBC13E0-DC70-4CAE-A029-B0F3E330B0CF}"/>
              </a:ext>
            </a:extLst>
          </p:cNvPr>
          <p:cNvSpPr/>
          <p:nvPr/>
        </p:nvSpPr>
        <p:spPr>
          <a:xfrm>
            <a:off x="6527800" y="4610100"/>
            <a:ext cx="254000" cy="254000"/>
          </a:xfrm>
          <a:prstGeom prst="ellipse">
            <a:avLst/>
          </a:prstGeom>
          <a:solidFill>
            <a:srgbClr val="D958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AF29AF5-05A5-467D-92E2-4A9165D8B411}"/>
              </a:ext>
            </a:extLst>
          </p:cNvPr>
          <p:cNvSpPr/>
          <p:nvPr/>
        </p:nvSpPr>
        <p:spPr>
          <a:xfrm>
            <a:off x="8204200" y="4610100"/>
            <a:ext cx="254000" cy="254000"/>
          </a:xfrm>
          <a:prstGeom prst="ellipse">
            <a:avLst/>
          </a:prstGeom>
          <a:solidFill>
            <a:srgbClr val="3FB68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3EA030F-7204-47B7-B1CB-FFE02F75B03B}"/>
              </a:ext>
            </a:extLst>
          </p:cNvPr>
          <p:cNvSpPr/>
          <p:nvPr/>
        </p:nvSpPr>
        <p:spPr>
          <a:xfrm>
            <a:off x="9880600" y="4610100"/>
            <a:ext cx="254000" cy="254000"/>
          </a:xfrm>
          <a:prstGeom prst="ellipse">
            <a:avLst/>
          </a:prstGeom>
          <a:solidFill>
            <a:srgbClr val="3FB68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9134541-F173-465D-AE8E-248C931ED860}"/>
              </a:ext>
            </a:extLst>
          </p:cNvPr>
          <p:cNvSpPr txBox="1"/>
          <p:nvPr/>
        </p:nvSpPr>
        <p:spPr>
          <a:xfrm>
            <a:off x="838200" y="5029200"/>
            <a:ext cx="19050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>
                <a:solidFill>
                  <a:srgbClr val="9FB3C8"/>
                </a:solidFill>
                <a:latin typeface="Arial"/>
                <a:cs typeface="Arial"/>
              </a:rPr>
              <a:t>Nerfbusters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BCFA19-6AEA-44C9-8895-B2F086AB8F05}"/>
              </a:ext>
            </a:extLst>
          </p:cNvPr>
          <p:cNvSpPr txBox="1"/>
          <p:nvPr/>
        </p:nvSpPr>
        <p:spPr>
          <a:xfrm>
            <a:off x="2743200" y="5029200"/>
            <a:ext cx="13970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00">
                <a:solidFill>
                  <a:srgbClr val="9FB3C8"/>
                </a:solidFill>
                <a:latin typeface="Arial"/>
                <a:cs typeface="Arial"/>
              </a:rPr>
              <a:t>NeRF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94465D3-B19A-417D-8E5C-AF0EE3C0658D}"/>
              </a:ext>
            </a:extLst>
          </p:cNvPr>
          <p:cNvSpPr/>
          <p:nvPr/>
        </p:nvSpPr>
        <p:spPr>
          <a:xfrm>
            <a:off x="4851400" y="5194300"/>
            <a:ext cx="254000" cy="254000"/>
          </a:xfrm>
          <a:prstGeom prst="ellipse">
            <a:avLst/>
          </a:prstGeom>
          <a:solidFill>
            <a:srgbClr val="D958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4AA11B2-3041-41CE-87B2-76555498A62B}"/>
              </a:ext>
            </a:extLst>
          </p:cNvPr>
          <p:cNvSpPr/>
          <p:nvPr/>
        </p:nvSpPr>
        <p:spPr>
          <a:xfrm>
            <a:off x="6527800" y="5194300"/>
            <a:ext cx="254000" cy="254000"/>
          </a:xfrm>
          <a:prstGeom prst="ellipse">
            <a:avLst/>
          </a:prstGeom>
          <a:solidFill>
            <a:srgbClr val="D958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DA98921-91A6-4C18-8A8A-8C0BB10DFE06}"/>
              </a:ext>
            </a:extLst>
          </p:cNvPr>
          <p:cNvSpPr/>
          <p:nvPr/>
        </p:nvSpPr>
        <p:spPr>
          <a:xfrm>
            <a:off x="8204200" y="5194300"/>
            <a:ext cx="254000" cy="254000"/>
          </a:xfrm>
          <a:prstGeom prst="ellipse">
            <a:avLst/>
          </a:prstGeom>
          <a:solidFill>
            <a:srgbClr val="3FB68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B3A3E4B-23E6-4A89-8C9B-B8EB6182DA17}"/>
              </a:ext>
            </a:extLst>
          </p:cNvPr>
          <p:cNvSpPr/>
          <p:nvPr/>
        </p:nvSpPr>
        <p:spPr>
          <a:xfrm>
            <a:off x="9880600" y="5194300"/>
            <a:ext cx="254000" cy="254000"/>
          </a:xfrm>
          <a:prstGeom prst="ellipse">
            <a:avLst/>
          </a:prstGeom>
          <a:solidFill>
            <a:srgbClr val="3FB68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19E6F4-0C97-4D40-B7B5-BC303A9064BC}"/>
              </a:ext>
            </a:extLst>
          </p:cNvPr>
          <p:cNvSpPr txBox="1"/>
          <p:nvPr/>
        </p:nvSpPr>
        <p:spPr>
          <a:xfrm>
            <a:off x="838200" y="5613400"/>
            <a:ext cx="19050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Arial"/>
                <a:cs typeface="Arial"/>
              </a:rPr>
              <a:t>FlowR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2F5D68-9567-48CF-8104-8C7A5D3A2F15}"/>
              </a:ext>
            </a:extLst>
          </p:cNvPr>
          <p:cNvSpPr txBox="1"/>
          <p:nvPr/>
        </p:nvSpPr>
        <p:spPr>
          <a:xfrm>
            <a:off x="2743200" y="5613400"/>
            <a:ext cx="13970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Arial"/>
                <a:cs typeface="Arial"/>
              </a:rPr>
              <a:t>3DGS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7C5CE5B-5925-4231-8E1E-49F25FFE866D}"/>
              </a:ext>
            </a:extLst>
          </p:cNvPr>
          <p:cNvSpPr/>
          <p:nvPr/>
        </p:nvSpPr>
        <p:spPr>
          <a:xfrm>
            <a:off x="4851400" y="5778500"/>
            <a:ext cx="254000" cy="254000"/>
          </a:xfrm>
          <a:prstGeom prst="ellipse">
            <a:avLst/>
          </a:prstGeom>
          <a:solidFill>
            <a:srgbClr val="3FB68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A08DDBE-A87E-4CB8-B412-7E66D9705DEA}"/>
              </a:ext>
            </a:extLst>
          </p:cNvPr>
          <p:cNvSpPr/>
          <p:nvPr/>
        </p:nvSpPr>
        <p:spPr>
          <a:xfrm>
            <a:off x="6527800" y="5778500"/>
            <a:ext cx="254000" cy="254000"/>
          </a:xfrm>
          <a:prstGeom prst="ellipse">
            <a:avLst/>
          </a:prstGeom>
          <a:solidFill>
            <a:srgbClr val="3FB68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D2C936C-6000-4C1A-ACE8-BB0EA318B762}"/>
              </a:ext>
            </a:extLst>
          </p:cNvPr>
          <p:cNvSpPr/>
          <p:nvPr/>
        </p:nvSpPr>
        <p:spPr>
          <a:xfrm>
            <a:off x="8204200" y="5778500"/>
            <a:ext cx="254000" cy="254000"/>
          </a:xfrm>
          <a:prstGeom prst="ellipse">
            <a:avLst/>
          </a:prstGeom>
          <a:solidFill>
            <a:srgbClr val="3FB68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70F74F3-8FEC-4E3A-9586-BE488F4DBFAB}"/>
              </a:ext>
            </a:extLst>
          </p:cNvPr>
          <p:cNvSpPr/>
          <p:nvPr/>
        </p:nvSpPr>
        <p:spPr>
          <a:xfrm>
            <a:off x="9880600" y="5778500"/>
            <a:ext cx="254000" cy="254000"/>
          </a:xfrm>
          <a:prstGeom prst="ellipse">
            <a:avLst/>
          </a:prstGeom>
          <a:solidFill>
            <a:srgbClr val="3FB68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C7F61E4-8830-41E3-90AF-56C74A2F7C9C}"/>
              </a:ext>
            </a:extLst>
          </p:cNvPr>
          <p:cNvSpPr/>
          <p:nvPr/>
        </p:nvSpPr>
        <p:spPr>
          <a:xfrm>
            <a:off x="838200" y="6350000"/>
            <a:ext cx="177800" cy="177800"/>
          </a:xfrm>
          <a:prstGeom prst="ellipse">
            <a:avLst/>
          </a:prstGeom>
          <a:solidFill>
            <a:srgbClr val="3FB68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3CE7DA4-7302-4C36-92BE-A2809DFF2772}"/>
              </a:ext>
            </a:extLst>
          </p:cNvPr>
          <p:cNvSpPr txBox="1"/>
          <p:nvPr/>
        </p:nvSpPr>
        <p:spPr>
          <a:xfrm>
            <a:off x="1079500" y="6286500"/>
            <a:ext cx="1397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200">
                <a:solidFill>
                  <a:srgbClr val="9FB3C8"/>
                </a:solidFill>
                <a:latin typeface="Arial"/>
                <a:cs typeface="Arial"/>
              </a:rPr>
              <a:t>Yes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4A3B3A9-D06E-4828-92E7-53D6E6F716D7}"/>
              </a:ext>
            </a:extLst>
          </p:cNvPr>
          <p:cNvSpPr/>
          <p:nvPr/>
        </p:nvSpPr>
        <p:spPr>
          <a:xfrm>
            <a:off x="2286000" y="6350000"/>
            <a:ext cx="177800" cy="177800"/>
          </a:xfrm>
          <a:prstGeom prst="ellipse">
            <a:avLst/>
          </a:prstGeom>
          <a:solidFill>
            <a:srgbClr val="E8C5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0A977FA-4243-4CB4-BF31-56086405664A}"/>
              </a:ext>
            </a:extLst>
          </p:cNvPr>
          <p:cNvSpPr txBox="1"/>
          <p:nvPr/>
        </p:nvSpPr>
        <p:spPr>
          <a:xfrm>
            <a:off x="2527300" y="6286500"/>
            <a:ext cx="1397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200">
                <a:solidFill>
                  <a:srgbClr val="9FB3C8"/>
                </a:solidFill>
                <a:latin typeface="Arial"/>
                <a:cs typeface="Arial"/>
              </a:rPr>
              <a:t>Partial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17B6565-5EA3-4CC8-91F3-C70F50025EB2}"/>
              </a:ext>
            </a:extLst>
          </p:cNvPr>
          <p:cNvSpPr/>
          <p:nvPr/>
        </p:nvSpPr>
        <p:spPr>
          <a:xfrm>
            <a:off x="3733800" y="6350000"/>
            <a:ext cx="177800" cy="177800"/>
          </a:xfrm>
          <a:prstGeom prst="ellipse">
            <a:avLst/>
          </a:prstGeom>
          <a:solidFill>
            <a:srgbClr val="D958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6882426-84B7-475F-BE09-74BA4701FD50}"/>
              </a:ext>
            </a:extLst>
          </p:cNvPr>
          <p:cNvSpPr txBox="1"/>
          <p:nvPr/>
        </p:nvSpPr>
        <p:spPr>
          <a:xfrm>
            <a:off x="3975100" y="6286500"/>
            <a:ext cx="1397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200">
                <a:solidFill>
                  <a:srgbClr val="9FB3C8"/>
                </a:solidFill>
                <a:latin typeface="Arial"/>
                <a:cs typeface="Arial"/>
              </a:rPr>
              <a:t>No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F62713C-78F9-D193-FCF5-B73EBFF9201F}"/>
              </a:ext>
            </a:extLst>
          </p:cNvPr>
          <p:cNvSpPr/>
          <p:nvPr/>
        </p:nvSpPr>
        <p:spPr>
          <a:xfrm>
            <a:off x="4851400" y="3442607"/>
            <a:ext cx="254000" cy="254000"/>
          </a:xfrm>
          <a:prstGeom prst="ellipse">
            <a:avLst/>
          </a:prstGeom>
          <a:solidFill>
            <a:srgbClr val="E8C5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756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DB8F1-FD30-C43F-1EA1-AE8659E4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de-DE" sz="3600" b="1" dirty="0">
                <a:solidFill>
                  <a:srgbClr val="FFFFFF"/>
                </a:solidFill>
              </a:rPr>
              <a:t>Datasets &amp; Evaluation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BA3E49-70A2-4C23-A98A-E6739FB7F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705264"/>
              </p:ext>
            </p:extLst>
          </p:nvPr>
        </p:nvGraphicFramePr>
        <p:xfrm>
          <a:off x="457200" y="2032000"/>
          <a:ext cx="112776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844582247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97778170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17439915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114647294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/>
                      <a:endParaRPr lang="en-US" sz="1500" b="1">
                        <a:solidFill>
                          <a:srgbClr val="FFFFFF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DL3DV-140</a:t>
                      </a:r>
                    </a:p>
                  </a:txBody>
                  <a:tcPr anchor="ctr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ScanNet++</a:t>
                      </a:r>
                    </a:p>
                  </a:txBody>
                  <a:tcPr anchor="ctr">
                    <a:solidFill>
                      <a:srgbClr val="0065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Nerfbusters</a:t>
                      </a:r>
                    </a:p>
                  </a:txBody>
                  <a:tcPr anchor="ctr">
                    <a:solidFill>
                      <a:srgbClr val="0065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7025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Scenes</a:t>
                      </a:r>
                    </a:p>
                  </a:txBody>
                  <a:tcPr anchor="ctr">
                    <a:solidFill>
                      <a:srgbClr val="1C2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solidFill>
                            <a:srgbClr val="9FB3C8"/>
                          </a:solidFill>
                          <a:latin typeface="Arial"/>
                          <a:cs typeface="Arial"/>
                        </a:rPr>
                        <a:t>Outdoor + indoor, very diverse</a:t>
                      </a:r>
                    </a:p>
                  </a:txBody>
                  <a:tcPr anchor="ctr"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solidFill>
                            <a:srgbClr val="9FB3C8"/>
                          </a:solidFill>
                          <a:latin typeface="Arial"/>
                          <a:cs typeface="Arial"/>
                        </a:rPr>
                        <a:t>Indoor, high-res detailed</a:t>
                      </a:r>
                    </a:p>
                  </a:txBody>
                  <a:tcPr anchor="ctr"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solidFill>
                            <a:srgbClr val="9FB3C8"/>
                          </a:solidFill>
                          <a:latin typeface="Arial"/>
                          <a:cs typeface="Arial"/>
                        </a:rPr>
                        <a:t>Casual phone captures</a:t>
                      </a:r>
                    </a:p>
                  </a:txBody>
                  <a:tcPr anchor="ctr">
                    <a:solidFill>
                      <a:srgbClr val="162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6147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Input</a:t>
                      </a:r>
                    </a:p>
                  </a:txBody>
                  <a:tcPr anchor="ctr">
                    <a:solidFill>
                      <a:srgbClr val="1C2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solidFill>
                            <a:srgbClr val="9FB3C8"/>
                          </a:solidFill>
                          <a:latin typeface="Arial"/>
                          <a:cs typeface="Arial"/>
                        </a:rPr>
                        <a:t>Sparse (12 / 24 views)</a:t>
                      </a:r>
                    </a:p>
                  </a:txBody>
                  <a:tcPr anchor="ctr"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solidFill>
                            <a:srgbClr val="9FB3C8"/>
                          </a:solidFill>
                          <a:latin typeface="Arial"/>
                          <a:cs typeface="Arial"/>
                        </a:rPr>
                        <a:t>Dense, many views</a:t>
                      </a:r>
                    </a:p>
                  </a:txBody>
                  <a:tcPr anchor="ctr"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solidFill>
                            <a:srgbClr val="9FB3C8"/>
                          </a:solidFill>
                          <a:latin typeface="Arial"/>
                          <a:cs typeface="Arial"/>
                        </a:rPr>
                        <a:t>Separate train/test paths</a:t>
                      </a:r>
                    </a:p>
                  </a:txBody>
                  <a:tcPr anchor="ctr">
                    <a:solidFill>
                      <a:srgbClr val="162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04827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Test setup</a:t>
                      </a:r>
                    </a:p>
                  </a:txBody>
                  <a:tcPr anchor="ctr">
                    <a:solidFill>
                      <a:srgbClr val="1C2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solidFill>
                            <a:srgbClr val="9FB3C8"/>
                          </a:solidFill>
                          <a:latin typeface="Arial"/>
                          <a:cs typeface="Arial"/>
                        </a:rPr>
                        <a:t>Interpolation between views</a:t>
                      </a:r>
                    </a:p>
                  </a:txBody>
                  <a:tcPr anchor="ctr"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solidFill>
                            <a:srgbClr val="9FB3C8"/>
                          </a:solidFill>
                          <a:latin typeface="Arial"/>
                          <a:cs typeface="Arial"/>
                        </a:rPr>
                        <a:t>Far out-of-distribution views</a:t>
                      </a:r>
                    </a:p>
                  </a:txBody>
                  <a:tcPr anchor="ctr"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solidFill>
                            <a:srgbClr val="9FB3C8"/>
                          </a:solidFill>
                          <a:latin typeface="Arial"/>
                          <a:cs typeface="Arial"/>
                        </a:rPr>
                        <a:t>Different camera trajectories + coverage</a:t>
                      </a:r>
                    </a:p>
                  </a:txBody>
                  <a:tcPr anchor="ctr">
                    <a:solidFill>
                      <a:srgbClr val="162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7369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Challenge</a:t>
                      </a:r>
                    </a:p>
                  </a:txBody>
                  <a:tcPr anchor="ctr">
                    <a:solidFill>
                      <a:srgbClr val="1C2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solidFill>
                            <a:srgbClr val="9FB3C8"/>
                          </a:solidFill>
                          <a:latin typeface="Arial"/>
                          <a:cs typeface="Arial"/>
                        </a:rPr>
                        <a:t>Too few views to cover scene</a:t>
                      </a:r>
                    </a:p>
                  </a:txBody>
                  <a:tcPr anchor="ctr"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solidFill>
                            <a:srgbClr val="9FB3C8"/>
                          </a:solidFill>
                          <a:latin typeface="Arial"/>
                          <a:cs typeface="Arial"/>
                        </a:rPr>
                        <a:t>Reconstruct unseen angles</a:t>
                      </a:r>
                    </a:p>
                  </a:txBody>
                  <a:tcPr anchor="ctr"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solidFill>
                            <a:srgbClr val="9FB3C8"/>
                          </a:solidFill>
                          <a:latin typeface="Arial"/>
                          <a:cs typeface="Arial"/>
                        </a:rPr>
                        <a:t>Ghosting artifacts</a:t>
                      </a:r>
                    </a:p>
                  </a:txBody>
                  <a:tcPr anchor="ctr">
                    <a:solidFill>
                      <a:srgbClr val="162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337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8567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DB8F1-FD30-C43F-1EA1-AE8659E4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>
                <a:solidFill>
                  <a:srgbClr val="FFFFFF"/>
                </a:solidFill>
              </a:rPr>
              <a:t>Where FlowR sits</a:t>
            </a:r>
          </a:p>
        </p:txBody>
      </p:sp>
      <p:sp>
        <p:nvSpPr>
          <p:cNvPr id="8" name="RWSections">
            <a:extLst>
              <a:ext uri="{FF2B5EF4-FFF2-40B4-BE49-F238E27FC236}">
                <a16:creationId xmlns:a16="http://schemas.microsoft.com/office/drawing/2014/main" id="{4689C37D-B130-4EA0-A60E-A1D23CD415B8}"/>
              </a:ext>
            </a:extLst>
          </p:cNvPr>
          <p:cNvSpPr txBox="1"/>
          <p:nvPr/>
        </p:nvSpPr>
        <p:spPr>
          <a:xfrm>
            <a:off x="838200" y="1905000"/>
            <a:ext cx="10515600" cy="431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 b="1" dirty="0">
                <a:solidFill>
                  <a:srgbClr val="6FB8FF"/>
                </a:solidFill>
              </a:rPr>
              <a:t>In the generative-priors cluster — but different</a:t>
            </a:r>
          </a:p>
          <a:p>
            <a:pPr algn="l">
              <a:spcBef>
                <a:spcPts val="400"/>
              </a:spcBef>
            </a:pPr>
            <a:r>
              <a:rPr lang="en-US" sz="1600" dirty="0">
                <a:solidFill>
                  <a:srgbClr val="9FB3C8"/>
                </a:solidFill>
              </a:rPr>
              <a:t>FlowR lives in the generative-priors cluster but replaces the noise source distribution with renderings of the initial reconstruction.</a:t>
            </a:r>
          </a:p>
          <a:p>
            <a:pPr algn="l">
              <a:spcBef>
                <a:spcPts val="800"/>
              </a:spcBef>
            </a:pPr>
            <a:r>
              <a:rPr lang="en-US" sz="2000" b="1" dirty="0">
                <a:solidFill>
                  <a:srgbClr val="FFFFFF"/>
                </a:solidFill>
              </a:rPr>
              <a:t>Only corrects what is wrong</a:t>
            </a:r>
          </a:p>
          <a:p>
            <a:pPr algn="l">
              <a:spcBef>
                <a:spcPts val="400"/>
              </a:spcBef>
            </a:pPr>
            <a:r>
              <a:rPr lang="en-US" sz="1600" dirty="0">
                <a:solidFill>
                  <a:srgbClr val="9FB3C8"/>
                </a:solidFill>
              </a:rPr>
              <a:t>The flow model only changes the regions that are off — if a rendering is already good, nothing changes. This makes generation faster, more consistent, and artifact-free.</a:t>
            </a:r>
          </a:p>
        </p:txBody>
      </p:sp>
    </p:spTree>
    <p:extLst>
      <p:ext uri="{BB962C8B-B14F-4D97-AF65-F5344CB8AC3E}">
        <p14:creationId xmlns:p14="http://schemas.microsoft.com/office/powerpoint/2010/main" val="883655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DB8F1-FD30-C43F-1EA1-AE8659E4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>
                <a:solidFill>
                  <a:srgbClr val="FFFFFF"/>
                </a:solidFill>
              </a:rPr>
              <a:t>Related Work</a:t>
            </a:r>
          </a:p>
        </p:txBody>
      </p:sp>
      <p:sp>
        <p:nvSpPr>
          <p:cNvPr id="7" name="RWRefs">
            <a:extLst>
              <a:ext uri="{FF2B5EF4-FFF2-40B4-BE49-F238E27FC236}">
                <a16:creationId xmlns:a16="http://schemas.microsoft.com/office/drawing/2014/main" id="{B8BB0355-21EC-459E-873C-DACF60836C52}"/>
              </a:ext>
            </a:extLst>
          </p:cNvPr>
          <p:cNvSpPr txBox="1"/>
          <p:nvPr/>
        </p:nvSpPr>
        <p:spPr>
          <a:xfrm>
            <a:off x="457200" y="5638800"/>
            <a:ext cx="11277600" cy="1143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000" b="1" dirty="0">
                <a:solidFill>
                  <a:srgbClr val="6B7C8E"/>
                </a:solidFill>
              </a:rPr>
              <a:t>References   </a:t>
            </a:r>
            <a:r>
              <a:rPr lang="en-US" sz="1000" dirty="0">
                <a:solidFill>
                  <a:srgbClr val="6B7C8E"/>
                </a:solidFill>
              </a:rPr>
              <a:t>[1] Niemeyer et al., RegNeRF, CVPR 2022   [2] Leroy et al., MASt3R, ECCV 2024   [3] Charatan et al., pixelSplat, CVPR 2024   [4] Chen et al., MVSplat, ECCV 2024</a:t>
            </a:r>
          </a:p>
          <a:p>
            <a:pPr algn="l">
              <a:spcBef>
                <a:spcPts val="200"/>
              </a:spcBef>
            </a:pPr>
            <a:r>
              <a:rPr lang="en-US" sz="1000" dirty="0">
                <a:solidFill>
                  <a:srgbClr val="6B7C8E"/>
                </a:solidFill>
              </a:rPr>
              <a:t>[5] Gao et al., CAT3D, NeurIPS 2024   [6] Wu et al., ReconFusion, CVPR 2024   [7] Yu et al., ViewCrafter, arXiv 2024</a:t>
            </a:r>
          </a:p>
        </p:txBody>
      </p:sp>
      <p:sp>
        <p:nvSpPr>
          <p:cNvPr id="8" name="RWSections">
            <a:extLst>
              <a:ext uri="{FF2B5EF4-FFF2-40B4-BE49-F238E27FC236}">
                <a16:creationId xmlns:a16="http://schemas.microsoft.com/office/drawing/2014/main" id="{4689C37D-B130-4EA0-A60E-A1D23CD415B8}"/>
              </a:ext>
            </a:extLst>
          </p:cNvPr>
          <p:cNvSpPr txBox="1"/>
          <p:nvPr/>
        </p:nvSpPr>
        <p:spPr>
          <a:xfrm>
            <a:off x="838200" y="1905000"/>
            <a:ext cx="10515600" cy="3556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800" b="1" dirty="0">
                <a:solidFill>
                  <a:srgbClr val="FFFFFF"/>
                </a:solidFill>
              </a:rPr>
              <a:t>Geometric Priors</a:t>
            </a:r>
            <a:r>
              <a:rPr lang="en-US" sz="1200" baseline="30000" dirty="0">
                <a:solidFill>
                  <a:srgbClr val="E8C547"/>
                </a:solidFill>
              </a:rPr>
              <a:t> 1,2</a:t>
            </a:r>
          </a:p>
          <a:p>
            <a:pPr algn="l">
              <a:spcBef>
                <a:spcPts val="300"/>
              </a:spcBef>
            </a:pPr>
            <a:r>
              <a:rPr lang="en-US" sz="1400" dirty="0">
                <a:solidFill>
                  <a:srgbClr val="9FB3C8"/>
                </a:solidFill>
              </a:rPr>
              <a:t>Tackle sparse views via geometry regularization — depth smoothness, ray entropy, monocular depth priors. Improve stability but cannot synthesize missing content: unobserved regions stay empty or blurry.</a:t>
            </a:r>
          </a:p>
          <a:p>
            <a:pPr algn="l">
              <a:spcBef>
                <a:spcPts val="900"/>
              </a:spcBef>
            </a:pPr>
            <a:r>
              <a:rPr lang="en-US" sz="1800" b="1" dirty="0">
                <a:solidFill>
                  <a:srgbClr val="FFFFFF"/>
                </a:solidFill>
              </a:rPr>
              <a:t>Feed-Forward Methods</a:t>
            </a:r>
            <a:r>
              <a:rPr lang="en-US" sz="1200" baseline="30000" dirty="0">
                <a:solidFill>
                  <a:srgbClr val="E8C547"/>
                </a:solidFill>
              </a:rPr>
              <a:t> 3,4</a:t>
            </a:r>
          </a:p>
          <a:p>
            <a:pPr algn="l">
              <a:spcBef>
                <a:spcPts val="300"/>
              </a:spcBef>
            </a:pPr>
            <a:r>
              <a:rPr lang="en-US" sz="1400" dirty="0">
                <a:solidFill>
                  <a:srgbClr val="9FB3C8"/>
                </a:solidFill>
              </a:rPr>
              <a:t>Predict 3D representations directly from image pairs in a single forward pass. Extremely fast, but without per-scene optimization they lose fine detail and struggle with complex scenes.</a:t>
            </a:r>
          </a:p>
          <a:p>
            <a:pPr algn="l">
              <a:spcBef>
                <a:spcPts val="900"/>
              </a:spcBef>
            </a:pPr>
            <a:r>
              <a:rPr lang="en-US" sz="1800" b="1" dirty="0">
                <a:solidFill>
                  <a:srgbClr val="FFFFFF"/>
                </a:solidFill>
              </a:rPr>
              <a:t>Generative Priors</a:t>
            </a:r>
            <a:r>
              <a:rPr lang="en-US" sz="1200" baseline="30000" dirty="0">
                <a:solidFill>
                  <a:srgbClr val="E8C547"/>
                </a:solidFill>
              </a:rPr>
              <a:t> 5,6,7</a:t>
            </a:r>
            <a:r>
              <a:rPr lang="en-US" sz="1400" i="1" dirty="0">
                <a:solidFill>
                  <a:srgbClr val="6FB8FF"/>
                </a:solidFill>
              </a:rPr>
              <a:t>  — most related</a:t>
            </a:r>
          </a:p>
          <a:p>
            <a:pPr algn="l">
              <a:spcBef>
                <a:spcPts val="300"/>
              </a:spcBef>
            </a:pPr>
            <a:r>
              <a:rPr lang="en-US" sz="1400" dirty="0">
                <a:solidFill>
                  <a:srgbClr val="9FB3C8"/>
                </a:solidFill>
              </a:rPr>
              <a:t>Use diffusion or flow models to hallucinate missing views (CAT3D, ReconFusion, ViewCrafter). All start from pure noise → ignore existing geometry → hallucinate even where reconstruction is correct → inconsistency and artifacts.</a:t>
            </a:r>
          </a:p>
        </p:txBody>
      </p:sp>
    </p:spTree>
    <p:extLst>
      <p:ext uri="{BB962C8B-B14F-4D97-AF65-F5344CB8AC3E}">
        <p14:creationId xmlns:p14="http://schemas.microsoft.com/office/powerpoint/2010/main" val="2140753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DB8F1-FD30-C43F-1EA1-AE8659E4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>
                <a:solidFill>
                  <a:srgbClr val="FFFFFF"/>
                </a:solidFill>
              </a:rPr>
              <a:t>Method Idea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296AAA-3E7F-4E20-8E62-3914117F4AF5}"/>
              </a:ext>
            </a:extLst>
          </p:cNvPr>
          <p:cNvSpPr txBox="1"/>
          <p:nvPr/>
        </p:nvSpPr>
        <p:spPr>
          <a:xfrm>
            <a:off x="1524000" y="1752600"/>
            <a:ext cx="914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i="1">
                <a:solidFill>
                  <a:srgbClr val="B8C9DA"/>
                </a:solidFill>
              </a:rPr>
              <a:t>The core idea: improve a 3D Gaussian reconstruction by generating its missing views with an image model.</a:t>
            </a:r>
          </a:p>
        </p:txBody>
      </p:sp>
      <p:sp>
        <p:nvSpPr>
          <p:cNvPr id="19" name="CARD0">
            <a:extLst>
              <a:ext uri="{FF2B5EF4-FFF2-40B4-BE49-F238E27FC236}">
                <a16:creationId xmlns:a16="http://schemas.microsoft.com/office/drawing/2014/main" id="{E472738F-901A-4972-86AA-DC779622D8B7}"/>
              </a:ext>
            </a:extLst>
          </p:cNvPr>
          <p:cNvSpPr/>
          <p:nvPr/>
        </p:nvSpPr>
        <p:spPr>
          <a:xfrm>
            <a:off x="838200" y="2730500"/>
            <a:ext cx="3175000" cy="2921000"/>
          </a:xfrm>
          <a:prstGeom prst="roundRect">
            <a:avLst/>
          </a:prstGeom>
          <a:solidFill>
            <a:srgbClr val="162230"/>
          </a:solidFill>
          <a:ln w="12700" cap="flat" cmpd="sng" algn="ctr">
            <a:solidFill>
              <a:srgbClr val="2C3E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37160" tIns="274320" rIns="137160" bIns="137160" rtlCol="0" anchor="t"/>
          <a:lstStyle/>
          <a:p>
            <a:pPr algn="ctr">
              <a:spcBef>
                <a:spcPts val="0"/>
              </a:spcBef>
            </a:pPr>
            <a:r>
              <a:rPr lang="en-US" sz="1700" b="1" dirty="0">
                <a:solidFill>
                  <a:srgbClr val="FFFFFF"/>
                </a:solidFill>
              </a:rPr>
              <a:t>Robust 3D Reconstruction</a:t>
            </a:r>
          </a:p>
          <a:p>
            <a:pPr algn="ctr">
              <a:spcBef>
                <a:spcPts val="800"/>
              </a:spcBef>
            </a:pPr>
            <a:r>
              <a:rPr lang="en-US" sz="1400" dirty="0">
                <a:solidFill>
                  <a:srgbClr val="B8C9DA"/>
                </a:solidFill>
              </a:rPr>
              <a:t>Build a dataset of 3D Gaussian reconstructions paired with ground-truth views for later fine-tuning.</a:t>
            </a:r>
          </a:p>
        </p:txBody>
      </p:sp>
      <p:sp>
        <p:nvSpPr>
          <p:cNvPr id="20" name="NUM0">
            <a:extLst>
              <a:ext uri="{FF2B5EF4-FFF2-40B4-BE49-F238E27FC236}">
                <a16:creationId xmlns:a16="http://schemas.microsoft.com/office/drawing/2014/main" id="{C9C5B1AD-E20F-44F1-809B-455C007619DF}"/>
              </a:ext>
            </a:extLst>
          </p:cNvPr>
          <p:cNvSpPr/>
          <p:nvPr/>
        </p:nvSpPr>
        <p:spPr>
          <a:xfrm>
            <a:off x="2209800" y="2514600"/>
            <a:ext cx="431800" cy="431800"/>
          </a:xfrm>
          <a:prstGeom prst="ellipse">
            <a:avLst/>
          </a:prstGeom>
          <a:solidFill>
            <a:srgbClr val="5B718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83F9D0BD-1AE5-49A9-A4C9-3675D3E4BA34}"/>
              </a:ext>
            </a:extLst>
          </p:cNvPr>
          <p:cNvSpPr/>
          <p:nvPr/>
        </p:nvSpPr>
        <p:spPr>
          <a:xfrm>
            <a:off x="4114800" y="3962400"/>
            <a:ext cx="520700" cy="457200"/>
          </a:xfrm>
          <a:prstGeom prst="chevron">
            <a:avLst/>
          </a:prstGeom>
          <a:solidFill>
            <a:srgbClr val="5B718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CARD1">
            <a:extLst>
              <a:ext uri="{FF2B5EF4-FFF2-40B4-BE49-F238E27FC236}">
                <a16:creationId xmlns:a16="http://schemas.microsoft.com/office/drawing/2014/main" id="{0D362C45-0431-4FB7-89A9-3F70E6BBE888}"/>
              </a:ext>
            </a:extLst>
          </p:cNvPr>
          <p:cNvSpPr/>
          <p:nvPr/>
        </p:nvSpPr>
        <p:spPr>
          <a:xfrm>
            <a:off x="4737100" y="2730500"/>
            <a:ext cx="3175000" cy="2921000"/>
          </a:xfrm>
          <a:prstGeom prst="roundRect">
            <a:avLst/>
          </a:prstGeom>
          <a:solidFill>
            <a:srgbClr val="162230"/>
          </a:solidFill>
          <a:ln w="12700" cap="flat" cmpd="sng" algn="ctr">
            <a:solidFill>
              <a:srgbClr val="2C3E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37160" tIns="274320" rIns="137160" bIns="137160" rtlCol="0" anchor="t"/>
          <a:lstStyle/>
          <a:p>
            <a:pPr algn="ctr">
              <a:spcBef>
                <a:spcPts val="0"/>
              </a:spcBef>
            </a:pPr>
            <a:r>
              <a:rPr lang="en-US" sz="1700" b="1" dirty="0">
                <a:solidFill>
                  <a:srgbClr val="FFFFFF"/>
                </a:solidFill>
              </a:rPr>
              <a:t>Flow Matching Model</a:t>
            </a:r>
          </a:p>
          <a:p>
            <a:pPr algn="ctr">
              <a:spcBef>
                <a:spcPts val="800"/>
              </a:spcBef>
            </a:pPr>
            <a:r>
              <a:rPr lang="en-US" sz="1400" dirty="0">
                <a:solidFill>
                  <a:srgbClr val="B8C9DA"/>
                </a:solidFill>
              </a:rPr>
              <a:t>Fine-tune an image model that learns to turn rough reconstruction views into real ground-truth views.</a:t>
            </a:r>
          </a:p>
        </p:txBody>
      </p:sp>
      <p:sp>
        <p:nvSpPr>
          <p:cNvPr id="23" name="NUM1">
            <a:extLst>
              <a:ext uri="{FF2B5EF4-FFF2-40B4-BE49-F238E27FC236}">
                <a16:creationId xmlns:a16="http://schemas.microsoft.com/office/drawing/2014/main" id="{9753E748-CF5A-49ED-99B0-6B6F0437A543}"/>
              </a:ext>
            </a:extLst>
          </p:cNvPr>
          <p:cNvSpPr/>
          <p:nvPr/>
        </p:nvSpPr>
        <p:spPr>
          <a:xfrm>
            <a:off x="6108700" y="2514600"/>
            <a:ext cx="431800" cy="431800"/>
          </a:xfrm>
          <a:prstGeom prst="ellipse">
            <a:avLst/>
          </a:prstGeom>
          <a:solidFill>
            <a:srgbClr val="5B718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148B28B2-7AF9-4FF3-9A8E-40CDBB796428}"/>
              </a:ext>
            </a:extLst>
          </p:cNvPr>
          <p:cNvSpPr/>
          <p:nvPr/>
        </p:nvSpPr>
        <p:spPr>
          <a:xfrm>
            <a:off x="8013700" y="3962400"/>
            <a:ext cx="520700" cy="457200"/>
          </a:xfrm>
          <a:prstGeom prst="chevron">
            <a:avLst/>
          </a:prstGeom>
          <a:solidFill>
            <a:srgbClr val="5B718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CARD2">
            <a:extLst>
              <a:ext uri="{FF2B5EF4-FFF2-40B4-BE49-F238E27FC236}">
                <a16:creationId xmlns:a16="http://schemas.microsoft.com/office/drawing/2014/main" id="{BA2FA392-71A2-4349-BD2E-9C3770909084}"/>
              </a:ext>
            </a:extLst>
          </p:cNvPr>
          <p:cNvSpPr/>
          <p:nvPr/>
        </p:nvSpPr>
        <p:spPr>
          <a:xfrm>
            <a:off x="8636000" y="2730500"/>
            <a:ext cx="3175000" cy="2921000"/>
          </a:xfrm>
          <a:prstGeom prst="roundRect">
            <a:avLst/>
          </a:prstGeom>
          <a:solidFill>
            <a:srgbClr val="162230"/>
          </a:solidFill>
          <a:ln w="12700" cap="flat" cmpd="sng" algn="ctr">
            <a:solidFill>
              <a:srgbClr val="2C3E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137160" tIns="274320" rIns="137160" bIns="137160" rtlCol="0" anchor="t"/>
          <a:lstStyle/>
          <a:p>
            <a:pPr algn="ctr">
              <a:spcBef>
                <a:spcPts val="0"/>
              </a:spcBef>
            </a:pPr>
            <a:r>
              <a:rPr lang="en-US" sz="1700" b="1" dirty="0">
                <a:solidFill>
                  <a:srgbClr val="FFFFFF"/>
                </a:solidFill>
              </a:rPr>
              <a:t>Improved 3D Reconstruction</a:t>
            </a:r>
          </a:p>
          <a:p>
            <a:pPr algn="ctr">
              <a:spcBef>
                <a:spcPts val="800"/>
              </a:spcBef>
            </a:pPr>
            <a:r>
              <a:rPr lang="en-US" sz="1400" dirty="0">
                <a:solidFill>
                  <a:srgbClr val="B8C9DA"/>
                </a:solidFill>
              </a:rPr>
              <a:t>Re-render the scene with the newly generated target poses added, yielding a denser, cleaner result.</a:t>
            </a:r>
          </a:p>
        </p:txBody>
      </p:sp>
      <p:sp>
        <p:nvSpPr>
          <p:cNvPr id="26" name="NUM2">
            <a:extLst>
              <a:ext uri="{FF2B5EF4-FFF2-40B4-BE49-F238E27FC236}">
                <a16:creationId xmlns:a16="http://schemas.microsoft.com/office/drawing/2014/main" id="{6CA66D8C-740C-40AB-AC6F-E98F4C1F44EB}"/>
              </a:ext>
            </a:extLst>
          </p:cNvPr>
          <p:cNvSpPr/>
          <p:nvPr/>
        </p:nvSpPr>
        <p:spPr>
          <a:xfrm>
            <a:off x="10007600" y="2514600"/>
            <a:ext cx="431800" cy="431800"/>
          </a:xfrm>
          <a:prstGeom prst="ellipse">
            <a:avLst/>
          </a:prstGeom>
          <a:solidFill>
            <a:srgbClr val="5B718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91808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DB8F1-FD30-C43F-1EA1-AE8659E4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rgbClr val="FFFFFF"/>
                </a:solidFill>
              </a:rPr>
              <a:t>Dataset Generation Pipeline </a:t>
            </a:r>
            <a:r>
              <a:rPr lang="en-US" sz="2000" b="1" dirty="0">
                <a:solidFill>
                  <a:srgbClr val="9FB3C8"/>
                </a:solidFill>
              </a:rPr>
              <a:t>(1/2)</a:t>
            </a:r>
          </a:p>
        </p:txBody>
      </p:sp>
      <p:sp>
        <p:nvSpPr>
          <p:cNvPr id="3" name="BLK1">
            <a:extLst>
              <a:ext uri="{FF2B5EF4-FFF2-40B4-BE49-F238E27FC236}">
                <a16:creationId xmlns:a16="http://schemas.microsoft.com/office/drawing/2014/main" id="{C8B0AC22-8DEB-42A8-87F0-21BA45B8B80A}"/>
              </a:ext>
            </a:extLst>
          </p:cNvPr>
          <p:cNvSpPr txBox="1"/>
          <p:nvPr/>
        </p:nvSpPr>
        <p:spPr>
          <a:xfrm>
            <a:off x="838200" y="1524000"/>
            <a:ext cx="6096000" cy="187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Co-visibility Graph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400" dirty="0">
                <a:solidFill>
                  <a:srgbClr val="B8C9DA"/>
                </a:solidFill>
              </a:rPr>
              <a:t>From the known camera poses we pick √N spread-out keyframes and connect only overlapping image pairs, cutting comparisons from </a:t>
            </a:r>
            <a:r>
              <a:rPr lang="en-US" sz="1400" b="1" dirty="0">
                <a:solidFill>
                  <a:srgbClr val="E8C547"/>
                </a:solidFill>
              </a:rPr>
              <a:t>342 to 129</a:t>
            </a:r>
            <a:r>
              <a:rPr lang="en-US" sz="1400" dirty="0">
                <a:solidFill>
                  <a:srgbClr val="B8C9DA"/>
                </a:solidFill>
              </a:rPr>
              <a:t>.</a:t>
            </a:r>
          </a:p>
        </p:txBody>
      </p:sp>
      <p:sp>
        <p:nvSpPr>
          <p:cNvPr id="4" name="IMG1">
            <a:extLst>
              <a:ext uri="{FF2B5EF4-FFF2-40B4-BE49-F238E27FC236}">
                <a16:creationId xmlns:a16="http://schemas.microsoft.com/office/drawing/2014/main" id="{6B7B88E8-5B74-4564-9E25-4D33F01CD19E}"/>
              </a:ext>
            </a:extLst>
          </p:cNvPr>
          <p:cNvSpPr/>
          <p:nvPr/>
        </p:nvSpPr>
        <p:spPr>
          <a:xfrm>
            <a:off x="7188200" y="1524000"/>
            <a:ext cx="4546600" cy="1879600"/>
          </a:xfrm>
          <a:prstGeom prst="rect">
            <a:avLst/>
          </a:prstGeom>
          <a:noFill/>
          <a:ln w="12700" cap="flat" cmpd="sng" algn="ctr">
            <a:solidFill>
              <a:srgbClr val="3A4F66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BLK2">
            <a:extLst>
              <a:ext uri="{FF2B5EF4-FFF2-40B4-BE49-F238E27FC236}">
                <a16:creationId xmlns:a16="http://schemas.microsoft.com/office/drawing/2014/main" id="{7662384C-6ABA-438C-993E-B781CE45D59E}"/>
              </a:ext>
            </a:extLst>
          </p:cNvPr>
          <p:cNvSpPr txBox="1"/>
          <p:nvPr/>
        </p:nvSpPr>
        <p:spPr>
          <a:xfrm>
            <a:off x="838200" y="3530600"/>
            <a:ext cx="6096000" cy="165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MASt3R on View Pairs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400" dirty="0">
                <a:solidFill>
                  <a:srgbClr val="B8C9DA"/>
                </a:solidFill>
              </a:rPr>
              <a:t>A learned model predicts 3D points and descriptors for each pair, from which feature matches are extracted and subsampled to the view density.</a:t>
            </a:r>
          </a:p>
        </p:txBody>
      </p:sp>
      <p:sp>
        <p:nvSpPr>
          <p:cNvPr id="6" name="IMG2">
            <a:extLst>
              <a:ext uri="{FF2B5EF4-FFF2-40B4-BE49-F238E27FC236}">
                <a16:creationId xmlns:a16="http://schemas.microsoft.com/office/drawing/2014/main" id="{28050C1A-C087-4166-8A81-FADFB9555CED}"/>
              </a:ext>
            </a:extLst>
          </p:cNvPr>
          <p:cNvSpPr/>
          <p:nvPr/>
        </p:nvSpPr>
        <p:spPr>
          <a:xfrm>
            <a:off x="7188200" y="3530600"/>
            <a:ext cx="4546600" cy="1651000"/>
          </a:xfrm>
          <a:prstGeom prst="rect">
            <a:avLst/>
          </a:prstGeom>
          <a:noFill/>
          <a:ln w="12700" cap="flat" cmpd="sng" algn="ctr">
            <a:solidFill>
              <a:srgbClr val="3A4F66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BLK3">
            <a:extLst>
              <a:ext uri="{FF2B5EF4-FFF2-40B4-BE49-F238E27FC236}">
                <a16:creationId xmlns:a16="http://schemas.microsoft.com/office/drawing/2014/main" id="{C4CA7A13-69BA-42AC-A047-B8F15282F39A}"/>
              </a:ext>
            </a:extLst>
          </p:cNvPr>
          <p:cNvSpPr txBox="1"/>
          <p:nvPr/>
        </p:nvSpPr>
        <p:spPr>
          <a:xfrm>
            <a:off x="838200" y="5308600"/>
            <a:ext cx="6096000" cy="149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Feature Tracks &amp; Triangulation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400" dirty="0">
                <a:solidFill>
                  <a:srgbClr val="B8C9DA"/>
                </a:solidFill>
              </a:rPr>
              <a:t>Matches are linked into tracks across images; COLMAP triangulates globally consistent 3D points, scaled to metric size via monocular depth.</a:t>
            </a:r>
          </a:p>
        </p:txBody>
      </p:sp>
      <p:sp>
        <p:nvSpPr>
          <p:cNvPr id="8" name="IMG3">
            <a:extLst>
              <a:ext uri="{FF2B5EF4-FFF2-40B4-BE49-F238E27FC236}">
                <a16:creationId xmlns:a16="http://schemas.microsoft.com/office/drawing/2014/main" id="{DCCFA71B-FFFB-4288-968A-11897503E30A}"/>
              </a:ext>
            </a:extLst>
          </p:cNvPr>
          <p:cNvSpPr/>
          <p:nvPr/>
        </p:nvSpPr>
        <p:spPr>
          <a:xfrm>
            <a:off x="7188200" y="5308600"/>
            <a:ext cx="4546600" cy="1498600"/>
          </a:xfrm>
          <a:prstGeom prst="rect">
            <a:avLst/>
          </a:prstGeom>
          <a:noFill/>
          <a:ln w="12700" cap="flat" cmpd="sng" algn="ctr">
            <a:solidFill>
              <a:srgbClr val="3A4F66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68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DB8F1-FD30-C43F-1EA1-AE8659E4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rgbClr val="FFFFFF"/>
                </a:solidFill>
              </a:rPr>
              <a:t>Dataset Generation Pipeline </a:t>
            </a:r>
            <a:r>
              <a:rPr lang="en-US" sz="2000" b="1" dirty="0">
                <a:solidFill>
                  <a:srgbClr val="9FB3C8"/>
                </a:solidFill>
              </a:rPr>
              <a:t>(2/2)</a:t>
            </a:r>
          </a:p>
        </p:txBody>
      </p:sp>
      <p:sp>
        <p:nvSpPr>
          <p:cNvPr id="3" name="BLK1">
            <a:extLst>
              <a:ext uri="{FF2B5EF4-FFF2-40B4-BE49-F238E27FC236}">
                <a16:creationId xmlns:a16="http://schemas.microsoft.com/office/drawing/2014/main" id="{C8B0AC22-8DEB-42A8-87F0-21BA45B8B80A}"/>
              </a:ext>
            </a:extLst>
          </p:cNvPr>
          <p:cNvSpPr txBox="1"/>
          <p:nvPr/>
        </p:nvSpPr>
        <p:spPr>
          <a:xfrm>
            <a:off x="838200" y="1651000"/>
            <a:ext cx="6096000" cy="2159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Fitting 3D Gaussians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400" dirty="0">
                <a:solidFill>
                  <a:srgbClr val="B8C9DA"/>
                </a:solidFill>
              </a:rPr>
              <a:t>The triangulated points initialize a 3DGS reconstruction (5k steps). Track constraints prune duplicates, shrinking the model from </a:t>
            </a:r>
            <a:r>
              <a:rPr lang="en-US" sz="1400" b="1" dirty="0">
                <a:solidFill>
                  <a:srgbClr val="E8C547"/>
                </a:solidFill>
              </a:rPr>
              <a:t>2M to 244K Gaussians</a:t>
            </a:r>
            <a:r>
              <a:rPr lang="en-US" sz="1400" dirty="0">
                <a:solidFill>
                  <a:srgbClr val="B8C9DA"/>
                </a:solidFill>
              </a:rPr>
              <a:t> for better geometry and scalability.</a:t>
            </a:r>
          </a:p>
        </p:txBody>
      </p:sp>
      <p:sp>
        <p:nvSpPr>
          <p:cNvPr id="4" name="IMG1">
            <a:extLst>
              <a:ext uri="{FF2B5EF4-FFF2-40B4-BE49-F238E27FC236}">
                <a16:creationId xmlns:a16="http://schemas.microsoft.com/office/drawing/2014/main" id="{6B7B88E8-5B74-4564-9E25-4D33F01CD19E}"/>
              </a:ext>
            </a:extLst>
          </p:cNvPr>
          <p:cNvSpPr/>
          <p:nvPr/>
        </p:nvSpPr>
        <p:spPr>
          <a:xfrm>
            <a:off x="7188200" y="1651000"/>
            <a:ext cx="4546600" cy="2159000"/>
          </a:xfrm>
          <a:prstGeom prst="rect">
            <a:avLst/>
          </a:prstGeom>
          <a:noFill/>
          <a:ln w="12700" cap="flat" cmpd="sng" algn="ctr">
            <a:solidFill>
              <a:srgbClr val="3A4F66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BLK2">
            <a:extLst>
              <a:ext uri="{FF2B5EF4-FFF2-40B4-BE49-F238E27FC236}">
                <a16:creationId xmlns:a16="http://schemas.microsoft.com/office/drawing/2014/main" id="{7662384C-6ABA-438C-993E-B781CE45D59E}"/>
              </a:ext>
            </a:extLst>
          </p:cNvPr>
          <p:cNvSpPr txBox="1"/>
          <p:nvPr/>
        </p:nvSpPr>
        <p:spPr>
          <a:xfrm>
            <a:off x="838200" y="4191000"/>
            <a:ext cx="6096000" cy="2286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Dataset Generation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400" dirty="0">
                <a:solidFill>
                  <a:srgbClr val="B8C9DA"/>
                </a:solidFill>
              </a:rPr>
              <a:t>Each scene is rendered at varying view sparsity </a:t>
            </a:r>
            <a:r>
              <a:rPr lang="en-US" sz="1400" b="1" dirty="0">
                <a:solidFill>
                  <a:srgbClr val="E8C547"/>
                </a:solidFill>
              </a:rPr>
              <a:t>(k ∈ [6, 36])</a:t>
            </a:r>
            <a:r>
              <a:rPr lang="en-US" sz="1400" dirty="0">
                <a:solidFill>
                  <a:srgbClr val="B8C9DA"/>
                </a:solidFill>
              </a:rPr>
              <a:t>, with remaining photos as ground truth. Pairing rough renderings with real photos yields </a:t>
            </a:r>
            <a:r>
              <a:rPr lang="en-US" sz="1400" b="1" dirty="0">
                <a:solidFill>
                  <a:srgbClr val="E8C547"/>
                </a:solidFill>
              </a:rPr>
              <a:t>3.6M image pairs from 10.3k scenes</a:t>
            </a:r>
            <a:r>
              <a:rPr lang="en-US" sz="1400" dirty="0">
                <a:solidFill>
                  <a:srgbClr val="B8C9DA"/>
                </a:solidFill>
              </a:rPr>
              <a:t>.</a:t>
            </a:r>
          </a:p>
        </p:txBody>
      </p:sp>
      <p:sp>
        <p:nvSpPr>
          <p:cNvPr id="6" name="IMG2">
            <a:extLst>
              <a:ext uri="{FF2B5EF4-FFF2-40B4-BE49-F238E27FC236}">
                <a16:creationId xmlns:a16="http://schemas.microsoft.com/office/drawing/2014/main" id="{28050C1A-C087-4166-8A81-FADFB9555CED}"/>
              </a:ext>
            </a:extLst>
          </p:cNvPr>
          <p:cNvSpPr/>
          <p:nvPr/>
        </p:nvSpPr>
        <p:spPr>
          <a:xfrm>
            <a:off x="7188200" y="4191000"/>
            <a:ext cx="4546600" cy="2286000"/>
          </a:xfrm>
          <a:prstGeom prst="rect">
            <a:avLst/>
          </a:prstGeom>
          <a:noFill/>
          <a:ln w="12700" cap="flat" cmpd="sng" algn="ctr">
            <a:solidFill>
              <a:srgbClr val="3A4F66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727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DB8F1-FD30-C43F-1EA1-AE8659E4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>
                <a:solidFill>
                  <a:srgbClr val="FFFFFF"/>
                </a:solidFill>
              </a:rPr>
              <a:t>Flow Matching Model</a:t>
            </a:r>
          </a:p>
        </p:txBody>
      </p:sp>
      <p:sp>
        <p:nvSpPr>
          <p:cNvPr id="3" name="BLK1">
            <a:extLst>
              <a:ext uri="{FF2B5EF4-FFF2-40B4-BE49-F238E27FC236}">
                <a16:creationId xmlns:a16="http://schemas.microsoft.com/office/drawing/2014/main" id="{C8B0AC22-8DEB-42A8-87F0-21BA45B8B80A}"/>
              </a:ext>
            </a:extLst>
          </p:cNvPr>
          <p:cNvSpPr txBox="1"/>
          <p:nvPr/>
        </p:nvSpPr>
        <p:spPr>
          <a:xfrm>
            <a:off x="838200" y="1651000"/>
            <a:ext cx="6096000" cy="2222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Training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400" dirty="0">
                <a:solidFill>
                  <a:srgbClr val="B8C9DA"/>
                </a:solidFill>
              </a:rPr>
              <a:t>Both images are encoded into latents by a VAE. At a random time, the model learns to </a:t>
            </a:r>
            <a:r>
              <a:rPr lang="en-US" sz="1400" b="1" dirty="0">
                <a:solidFill>
                  <a:srgbClr val="E8C547"/>
                </a:solidFill>
              </a:rPr>
              <a:t>predict the velocity vector</a:t>
            </a:r>
            <a:r>
              <a:rPr lang="en-US" sz="1400" dirty="0">
                <a:solidFill>
                  <a:srgbClr val="B8C9DA"/>
                </a:solidFill>
              </a:rPr>
              <a:t> that carries the rough rendering toward the real photo — across all </a:t>
            </a:r>
            <a:r>
              <a:rPr lang="en-US" sz="1400" b="1" dirty="0">
                <a:solidFill>
                  <a:srgbClr val="E8C547"/>
                </a:solidFill>
              </a:rPr>
              <a:t>3.6M image pairs</a:t>
            </a:r>
            <a:r>
              <a:rPr lang="en-US" sz="1400" dirty="0">
                <a:solidFill>
                  <a:srgbClr val="B8C9DA"/>
                </a:solidFill>
              </a:rPr>
              <a:t>.</a:t>
            </a:r>
          </a:p>
        </p:txBody>
      </p:sp>
      <p:sp>
        <p:nvSpPr>
          <p:cNvPr id="4" name="IMG1">
            <a:extLst>
              <a:ext uri="{FF2B5EF4-FFF2-40B4-BE49-F238E27FC236}">
                <a16:creationId xmlns:a16="http://schemas.microsoft.com/office/drawing/2014/main" id="{6B7B88E8-5B74-4564-9E25-4D33F01CD19E}"/>
              </a:ext>
            </a:extLst>
          </p:cNvPr>
          <p:cNvSpPr/>
          <p:nvPr/>
        </p:nvSpPr>
        <p:spPr>
          <a:xfrm>
            <a:off x="7188200" y="1651000"/>
            <a:ext cx="4546600" cy="2222500"/>
          </a:xfrm>
          <a:prstGeom prst="rect">
            <a:avLst/>
          </a:prstGeom>
          <a:noFill/>
          <a:ln w="12700" cap="flat" cmpd="sng" algn="ctr">
            <a:solidFill>
              <a:srgbClr val="3A4F66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BLK2">
            <a:extLst>
              <a:ext uri="{FF2B5EF4-FFF2-40B4-BE49-F238E27FC236}">
                <a16:creationId xmlns:a16="http://schemas.microsoft.com/office/drawing/2014/main" id="{7662384C-6ABA-438C-993E-B781CE45D59E}"/>
              </a:ext>
            </a:extLst>
          </p:cNvPr>
          <p:cNvSpPr txBox="1"/>
          <p:nvPr/>
        </p:nvSpPr>
        <p:spPr>
          <a:xfrm>
            <a:off x="838200" y="4254500"/>
            <a:ext cx="6096000" cy="203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Inference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400" dirty="0">
                <a:solidFill>
                  <a:srgbClr val="B8C9DA"/>
                </a:solidFill>
              </a:rPr>
              <a:t>Starting from a fresh rendering at the target pose, the model takes </a:t>
            </a:r>
            <a:r>
              <a:rPr lang="en-US" sz="1400" b="1" dirty="0">
                <a:solidFill>
                  <a:srgbClr val="E8C547"/>
                </a:solidFill>
              </a:rPr>
              <a:t>20 Euler steps</a:t>
            </a:r>
            <a:r>
              <a:rPr lang="en-US" sz="1400" dirty="0">
                <a:solidFill>
                  <a:srgbClr val="B8C9DA"/>
                </a:solidFill>
              </a:rPr>
              <a:t> following the predicted velocity, and the VAE decoder turns the result into a refined photo.</a:t>
            </a:r>
          </a:p>
        </p:txBody>
      </p:sp>
      <p:sp>
        <p:nvSpPr>
          <p:cNvPr id="6" name="IMG2">
            <a:extLst>
              <a:ext uri="{FF2B5EF4-FFF2-40B4-BE49-F238E27FC236}">
                <a16:creationId xmlns:a16="http://schemas.microsoft.com/office/drawing/2014/main" id="{28050C1A-C087-4166-8A81-FADFB9555CED}"/>
              </a:ext>
            </a:extLst>
          </p:cNvPr>
          <p:cNvSpPr/>
          <p:nvPr/>
        </p:nvSpPr>
        <p:spPr>
          <a:xfrm>
            <a:off x="7188200" y="4254500"/>
            <a:ext cx="4546600" cy="2032000"/>
          </a:xfrm>
          <a:prstGeom prst="rect">
            <a:avLst/>
          </a:prstGeom>
          <a:noFill/>
          <a:ln w="12700" cap="flat" cmpd="sng" algn="ctr">
            <a:solidFill>
              <a:srgbClr val="3A4F66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042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DB8F1-FD30-C43F-1EA1-AE8659E4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rgbClr val="FFFFFF"/>
                </a:solidFill>
              </a:rPr>
              <a:t>Improving 3D Reconstruction</a:t>
            </a:r>
          </a:p>
        </p:txBody>
      </p:sp>
      <p:sp>
        <p:nvSpPr>
          <p:cNvPr id="3" name="BLK1">
            <a:extLst>
              <a:ext uri="{FF2B5EF4-FFF2-40B4-BE49-F238E27FC236}">
                <a16:creationId xmlns:a16="http://schemas.microsoft.com/office/drawing/2014/main" id="{C8B0AC22-8DEB-42A8-87F0-21BA45B8B80A}"/>
              </a:ext>
            </a:extLst>
          </p:cNvPr>
          <p:cNvSpPr txBox="1"/>
          <p:nvPr/>
        </p:nvSpPr>
        <p:spPr>
          <a:xfrm>
            <a:off x="838200" y="1574800"/>
            <a:ext cx="6096000" cy="165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Selecting Target Poses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400" dirty="0">
                <a:solidFill>
                  <a:srgbClr val="B8C9DA"/>
                </a:solidFill>
              </a:rPr>
              <a:t>New viewpoints are sampled along a B-spline for ordered views, or via Farthest Point Sampling on a sphere for unordered ones — then filtered to drop redundant or empty frames.</a:t>
            </a:r>
          </a:p>
        </p:txBody>
      </p:sp>
      <p:sp>
        <p:nvSpPr>
          <p:cNvPr id="4" name="IMG1">
            <a:extLst>
              <a:ext uri="{FF2B5EF4-FFF2-40B4-BE49-F238E27FC236}">
                <a16:creationId xmlns:a16="http://schemas.microsoft.com/office/drawing/2014/main" id="{6B7B88E8-5B74-4564-9E25-4D33F01CD19E}"/>
              </a:ext>
            </a:extLst>
          </p:cNvPr>
          <p:cNvSpPr/>
          <p:nvPr/>
        </p:nvSpPr>
        <p:spPr>
          <a:xfrm>
            <a:off x="7188200" y="1574800"/>
            <a:ext cx="4546600" cy="1651000"/>
          </a:xfrm>
          <a:prstGeom prst="rect">
            <a:avLst/>
          </a:prstGeom>
          <a:noFill/>
          <a:ln w="12700" cap="flat" cmpd="sng" algn="ctr">
            <a:solidFill>
              <a:srgbClr val="3A4F66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BLK2">
            <a:extLst>
              <a:ext uri="{FF2B5EF4-FFF2-40B4-BE49-F238E27FC236}">
                <a16:creationId xmlns:a16="http://schemas.microsoft.com/office/drawing/2014/main" id="{7662384C-6ABA-438C-993E-B781CE45D59E}"/>
              </a:ext>
            </a:extLst>
          </p:cNvPr>
          <p:cNvSpPr txBox="1"/>
          <p:nvPr/>
        </p:nvSpPr>
        <p:spPr>
          <a:xfrm>
            <a:off x="838200" y="3403600"/>
            <a:ext cx="609600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Applying the Flow Model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400" dirty="0">
                <a:solidFill>
                  <a:srgbClr val="B8C9DA"/>
                </a:solidFill>
              </a:rPr>
              <a:t>The 3DGS is rendered at each target pose, and the flow model turns those rough renderings into refined images </a:t>
            </a:r>
            <a:r>
              <a:rPr lang="en-US" sz="1400" b="1" dirty="0">
                <a:solidFill>
                  <a:srgbClr val="E8C547"/>
                </a:solidFill>
              </a:rPr>
              <a:t>I_tgt</a:t>
            </a:r>
            <a:r>
              <a:rPr lang="en-US" sz="1400" dirty="0">
                <a:solidFill>
                  <a:srgbClr val="B8C9DA"/>
                </a:solidFill>
              </a:rPr>
              <a:t>.</a:t>
            </a:r>
          </a:p>
        </p:txBody>
      </p:sp>
      <p:sp>
        <p:nvSpPr>
          <p:cNvPr id="6" name="IMG2">
            <a:extLst>
              <a:ext uri="{FF2B5EF4-FFF2-40B4-BE49-F238E27FC236}">
                <a16:creationId xmlns:a16="http://schemas.microsoft.com/office/drawing/2014/main" id="{28050C1A-C087-4166-8A81-FADFB9555CED}"/>
              </a:ext>
            </a:extLst>
          </p:cNvPr>
          <p:cNvSpPr/>
          <p:nvPr/>
        </p:nvSpPr>
        <p:spPr>
          <a:xfrm>
            <a:off x="7188200" y="3403600"/>
            <a:ext cx="4546600" cy="1397000"/>
          </a:xfrm>
          <a:prstGeom prst="rect">
            <a:avLst/>
          </a:prstGeom>
          <a:noFill/>
          <a:ln w="12700" cap="flat" cmpd="sng" algn="ctr">
            <a:solidFill>
              <a:srgbClr val="3A4F66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BLK3">
            <a:extLst>
              <a:ext uri="{FF2B5EF4-FFF2-40B4-BE49-F238E27FC236}">
                <a16:creationId xmlns:a16="http://schemas.microsoft.com/office/drawing/2014/main" id="{C4CA7A13-69BA-42AC-A047-B8F15282F39A}"/>
              </a:ext>
            </a:extLst>
          </p:cNvPr>
          <p:cNvSpPr txBox="1"/>
          <p:nvPr/>
        </p:nvSpPr>
        <p:spPr>
          <a:xfrm>
            <a:off x="838200" y="4978400"/>
            <a:ext cx="6096000" cy="165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New Reconstruction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400" dirty="0">
                <a:solidFill>
                  <a:srgbClr val="B8C9DA"/>
                </a:solidFill>
              </a:rPr>
              <a:t>A fresh 3DGS is fit on </a:t>
            </a:r>
            <a:r>
              <a:rPr lang="en-US" sz="1400" b="1" dirty="0">
                <a:solidFill>
                  <a:srgbClr val="E8C547"/>
                </a:solidFill>
              </a:rPr>
              <a:t>I_src ∪ I_tgt</a:t>
            </a:r>
            <a:r>
              <a:rPr lang="en-US" sz="1400" dirty="0">
                <a:solidFill>
                  <a:srgbClr val="B8C9DA"/>
                </a:solidFill>
              </a:rPr>
              <a:t> using tailored losses (L2 + SSIM, plus LPIPS on target views), giving the </a:t>
            </a:r>
            <a:r>
              <a:rPr lang="en-US" sz="1400" b="1" dirty="0">
                <a:solidFill>
                  <a:srgbClr val="E8C547"/>
                </a:solidFill>
              </a:rPr>
              <a:t>final improved reconstruction</a:t>
            </a:r>
            <a:r>
              <a:rPr lang="en-US" sz="1400" dirty="0">
                <a:solidFill>
                  <a:srgbClr val="B8C9DA"/>
                </a:solidFill>
              </a:rPr>
              <a:t>.</a:t>
            </a:r>
          </a:p>
        </p:txBody>
      </p:sp>
      <p:sp>
        <p:nvSpPr>
          <p:cNvPr id="8" name="IMG3">
            <a:extLst>
              <a:ext uri="{FF2B5EF4-FFF2-40B4-BE49-F238E27FC236}">
                <a16:creationId xmlns:a16="http://schemas.microsoft.com/office/drawing/2014/main" id="{DCCFA71B-FFFB-4288-968A-11897503E30A}"/>
              </a:ext>
            </a:extLst>
          </p:cNvPr>
          <p:cNvSpPr/>
          <p:nvPr/>
        </p:nvSpPr>
        <p:spPr>
          <a:xfrm>
            <a:off x="7188200" y="4978400"/>
            <a:ext cx="4546600" cy="1651000"/>
          </a:xfrm>
          <a:prstGeom prst="rect">
            <a:avLst/>
          </a:prstGeom>
          <a:noFill/>
          <a:ln w="12700" cap="flat" cmpd="sng" algn="ctr">
            <a:solidFill>
              <a:srgbClr val="3A4F66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20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DB8F1-FD30-C43F-1EA1-AE8659E4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>
                <a:solidFill>
                  <a:srgbClr val="FFFFFF"/>
                </a:solidFill>
              </a:rPr>
              <a:t>Experiment Setup</a:t>
            </a:r>
          </a:p>
        </p:txBody>
      </p:sp>
      <p:sp>
        <p:nvSpPr>
          <p:cNvPr id="9" name="EXP1_BG">
            <a:extLst>
              <a:ext uri="{FF2B5EF4-FFF2-40B4-BE49-F238E27FC236}">
                <a16:creationId xmlns:a16="http://schemas.microsoft.com/office/drawing/2014/main" id="{BFFE3294-BB8D-4E78-81B6-3874EE49F550}"/>
              </a:ext>
            </a:extLst>
          </p:cNvPr>
          <p:cNvSpPr/>
          <p:nvPr/>
        </p:nvSpPr>
        <p:spPr>
          <a:xfrm>
            <a:off x="838200" y="1625600"/>
            <a:ext cx="5257800" cy="2438400"/>
          </a:xfrm>
          <a:prstGeom prst="roundRect">
            <a:avLst/>
          </a:prstGeom>
          <a:solidFill>
            <a:srgbClr val="1C2A3A"/>
          </a:solidFill>
          <a:ln w="12700" cap="flat" cmpd="sng" algn="ctr">
            <a:solidFill>
              <a:srgbClr val="3A4F6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EXP1">
            <a:extLst>
              <a:ext uri="{FF2B5EF4-FFF2-40B4-BE49-F238E27FC236}">
                <a16:creationId xmlns:a16="http://schemas.microsoft.com/office/drawing/2014/main" id="{EBE9BFA4-2E9D-493B-97CC-0D8B706A8E06}"/>
              </a:ext>
            </a:extLst>
          </p:cNvPr>
          <p:cNvSpPr txBox="1"/>
          <p:nvPr/>
        </p:nvSpPr>
        <p:spPr>
          <a:xfrm>
            <a:off x="1066800" y="1803400"/>
            <a:ext cx="4800600" cy="1064394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The Model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400" dirty="0">
                <a:solidFill>
                  <a:srgbClr val="B8C9DA"/>
                </a:solidFill>
              </a:rPr>
              <a:t>FlowR builds on a </a:t>
            </a:r>
            <a:r>
              <a:rPr lang="en-US" sz="1400" b="1" dirty="0">
                <a:solidFill>
                  <a:srgbClr val="E8C547"/>
                </a:solidFill>
              </a:rPr>
              <a:t>2.7B</a:t>
            </a:r>
            <a:r>
              <a:rPr lang="en-US" sz="1400" dirty="0">
                <a:solidFill>
                  <a:srgbClr val="B8C9DA"/>
                </a:solidFill>
              </a:rPr>
              <a:t> parameter text-to-image model, fine-tuned down to </a:t>
            </a:r>
            <a:r>
              <a:rPr lang="en-US" sz="1400" b="1" dirty="0">
                <a:solidFill>
                  <a:srgbClr val="E8C547"/>
                </a:solidFill>
              </a:rPr>
              <a:t>1.75B</a:t>
            </a:r>
            <a:r>
              <a:rPr lang="en-US" sz="1400" dirty="0">
                <a:solidFill>
                  <a:srgbClr val="B8C9DA"/>
                </a:solidFill>
              </a:rPr>
              <a:t> parameters after dropping the text-conditioning layers.</a:t>
            </a:r>
          </a:p>
        </p:txBody>
      </p:sp>
      <p:sp>
        <p:nvSpPr>
          <p:cNvPr id="11" name="EXP2_BG">
            <a:extLst>
              <a:ext uri="{FF2B5EF4-FFF2-40B4-BE49-F238E27FC236}">
                <a16:creationId xmlns:a16="http://schemas.microsoft.com/office/drawing/2014/main" id="{5765FAA5-D53C-4E9D-9714-B0D96DF6CD0A}"/>
              </a:ext>
            </a:extLst>
          </p:cNvPr>
          <p:cNvSpPr/>
          <p:nvPr/>
        </p:nvSpPr>
        <p:spPr>
          <a:xfrm>
            <a:off x="6400800" y="1625600"/>
            <a:ext cx="5257800" cy="2438400"/>
          </a:xfrm>
          <a:prstGeom prst="roundRect">
            <a:avLst/>
          </a:prstGeom>
          <a:solidFill>
            <a:srgbClr val="1C2A3A"/>
          </a:solidFill>
          <a:ln w="12700" cap="flat" cmpd="sng" algn="ctr">
            <a:solidFill>
              <a:srgbClr val="3A4F6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EXP2">
            <a:extLst>
              <a:ext uri="{FF2B5EF4-FFF2-40B4-BE49-F238E27FC236}">
                <a16:creationId xmlns:a16="http://schemas.microsoft.com/office/drawing/2014/main" id="{AC22A145-6C18-4F10-8A4E-6226D7BA1C67}"/>
              </a:ext>
            </a:extLst>
          </p:cNvPr>
          <p:cNvSpPr txBox="1"/>
          <p:nvPr/>
        </p:nvSpPr>
        <p:spPr>
          <a:xfrm>
            <a:off x="6629400" y="1803400"/>
            <a:ext cx="4800600" cy="208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Benchmarks</a:t>
            </a:r>
          </a:p>
          <a:p>
            <a:pPr marL="180000" indent="-180000" algn="l">
              <a:spcBef>
                <a:spcPts val="400"/>
              </a:spcBef>
              <a:buFont typeface="Arial"/>
              <a:buChar char="•"/>
            </a:pPr>
            <a:r>
              <a:rPr lang="en-US" sz="1400" b="1" dirty="0">
                <a:solidFill>
                  <a:srgbClr val="FFFFFF"/>
                </a:solidFill>
              </a:rPr>
              <a:t>DL3DV140 — </a:t>
            </a:r>
            <a:r>
              <a:rPr lang="en-US" sz="1400" dirty="0">
                <a:solidFill>
                  <a:srgbClr val="B8C9DA"/>
                </a:solidFill>
              </a:rPr>
              <a:t>large-scale outdoor/indoor scenes; sparse setting with 12 and 24 equally spaced training views</a:t>
            </a:r>
          </a:p>
          <a:p>
            <a:pPr marL="180000" indent="-180000" algn="l">
              <a:spcBef>
                <a:spcPts val="400"/>
              </a:spcBef>
              <a:buFont typeface="Arial"/>
              <a:buChar char="•"/>
            </a:pPr>
            <a:r>
              <a:rPr lang="en-US" sz="1400" b="1" dirty="0">
                <a:solidFill>
                  <a:srgbClr val="FFFFFF"/>
                </a:solidFill>
              </a:rPr>
              <a:t>ScanNet++ — </a:t>
            </a:r>
            <a:r>
              <a:rPr lang="en-US" sz="1400" dirty="0">
                <a:solidFill>
                  <a:srgbClr val="B8C9DA"/>
                </a:solidFill>
              </a:rPr>
              <a:t>high-fidelity indoor scenes; dense setting with out-of-distribution test views</a:t>
            </a:r>
          </a:p>
          <a:p>
            <a:pPr marL="180000" indent="-180000" algn="l">
              <a:spcBef>
                <a:spcPts val="400"/>
              </a:spcBef>
              <a:buFont typeface="Arial"/>
              <a:buChar char="•"/>
            </a:pPr>
            <a:r>
              <a:rPr lang="en-US" sz="1400" b="1" dirty="0">
                <a:solidFill>
                  <a:srgbClr val="FFFFFF"/>
                </a:solidFill>
              </a:rPr>
              <a:t>Nerfbusters — </a:t>
            </a:r>
            <a:r>
              <a:rPr lang="en-US" sz="1400" dirty="0">
                <a:solidFill>
                  <a:srgbClr val="B8C9DA"/>
                </a:solidFill>
              </a:rPr>
              <a:t>casually captured scenes; training and test trajectories fully disjoint</a:t>
            </a:r>
          </a:p>
        </p:txBody>
      </p:sp>
      <p:sp>
        <p:nvSpPr>
          <p:cNvPr id="13" name="EXP3_BG">
            <a:extLst>
              <a:ext uri="{FF2B5EF4-FFF2-40B4-BE49-F238E27FC236}">
                <a16:creationId xmlns:a16="http://schemas.microsoft.com/office/drawing/2014/main" id="{DDFEB49A-9CCC-458E-A257-53B69395FF7E}"/>
              </a:ext>
            </a:extLst>
          </p:cNvPr>
          <p:cNvSpPr/>
          <p:nvPr/>
        </p:nvSpPr>
        <p:spPr>
          <a:xfrm>
            <a:off x="838200" y="4267200"/>
            <a:ext cx="5257800" cy="2438400"/>
          </a:xfrm>
          <a:prstGeom prst="roundRect">
            <a:avLst/>
          </a:prstGeom>
          <a:solidFill>
            <a:srgbClr val="1C2A3A"/>
          </a:solidFill>
          <a:ln w="12700" cap="flat" cmpd="sng" algn="ctr">
            <a:solidFill>
              <a:srgbClr val="3A4F6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EXP3">
            <a:extLst>
              <a:ext uri="{FF2B5EF4-FFF2-40B4-BE49-F238E27FC236}">
                <a16:creationId xmlns:a16="http://schemas.microsoft.com/office/drawing/2014/main" id="{C8E50D4A-B8E6-495E-93EB-9A99F17208F2}"/>
              </a:ext>
            </a:extLst>
          </p:cNvPr>
          <p:cNvSpPr txBox="1"/>
          <p:nvPr/>
        </p:nvSpPr>
        <p:spPr>
          <a:xfrm>
            <a:off x="1066800" y="4445000"/>
            <a:ext cx="4800600" cy="1279838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Metrics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400" b="1" dirty="0">
                <a:solidFill>
                  <a:srgbClr val="E8C547"/>
                </a:solidFill>
              </a:rPr>
              <a:t>PSNR</a:t>
            </a:r>
            <a:r>
              <a:rPr lang="en-US" sz="1400" dirty="0">
                <a:solidFill>
                  <a:srgbClr val="B8C9DA"/>
                </a:solidFill>
              </a:rPr>
              <a:t> and </a:t>
            </a:r>
            <a:r>
              <a:rPr lang="en-US" sz="1400" b="1" dirty="0">
                <a:solidFill>
                  <a:srgbClr val="E8C547"/>
                </a:solidFill>
              </a:rPr>
              <a:t>SSIM</a:t>
            </a:r>
            <a:r>
              <a:rPr lang="en-US" sz="1400" dirty="0">
                <a:solidFill>
                  <a:srgbClr val="B8C9DA"/>
                </a:solidFill>
              </a:rPr>
              <a:t> measure low-level pixel similarity, while </a:t>
            </a:r>
            <a:r>
              <a:rPr lang="en-US" sz="1400" b="1" dirty="0">
                <a:solidFill>
                  <a:srgbClr val="E8C547"/>
                </a:solidFill>
              </a:rPr>
              <a:t>LPIPS</a:t>
            </a:r>
            <a:r>
              <a:rPr lang="en-US" sz="1400" dirty="0">
                <a:solidFill>
                  <a:srgbClr val="B8C9DA"/>
                </a:solidFill>
              </a:rPr>
              <a:t> captures perceptual similarity closer to human vision. Nerfbusters additionally reports </a:t>
            </a:r>
            <a:r>
              <a:rPr lang="en-US" sz="1400" b="1" dirty="0">
                <a:solidFill>
                  <a:srgbClr val="E8C547"/>
                </a:solidFill>
              </a:rPr>
              <a:t>Coverage</a:t>
            </a:r>
            <a:r>
              <a:rPr lang="en-US" sz="1400" dirty="0">
                <a:solidFill>
                  <a:srgbClr val="B8C9DA"/>
                </a:solidFill>
              </a:rPr>
              <a:t> — the share of scene points reconstructed.</a:t>
            </a:r>
          </a:p>
        </p:txBody>
      </p:sp>
      <p:sp>
        <p:nvSpPr>
          <p:cNvPr id="15" name="EXP4_BG">
            <a:extLst>
              <a:ext uri="{FF2B5EF4-FFF2-40B4-BE49-F238E27FC236}">
                <a16:creationId xmlns:a16="http://schemas.microsoft.com/office/drawing/2014/main" id="{2CA81A32-9619-4681-9629-5141928346E2}"/>
              </a:ext>
            </a:extLst>
          </p:cNvPr>
          <p:cNvSpPr/>
          <p:nvPr/>
        </p:nvSpPr>
        <p:spPr>
          <a:xfrm>
            <a:off x="6400800" y="4267200"/>
            <a:ext cx="5257800" cy="2438400"/>
          </a:xfrm>
          <a:prstGeom prst="roundRect">
            <a:avLst/>
          </a:prstGeom>
          <a:solidFill>
            <a:srgbClr val="1C2A3A"/>
          </a:solidFill>
          <a:ln w="12700" cap="flat" cmpd="sng" algn="ctr">
            <a:solidFill>
              <a:srgbClr val="3A4F6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EXP4">
            <a:extLst>
              <a:ext uri="{FF2B5EF4-FFF2-40B4-BE49-F238E27FC236}">
                <a16:creationId xmlns:a16="http://schemas.microsoft.com/office/drawing/2014/main" id="{F812E7CD-A977-45A6-ABD9-341F2141FF29}"/>
              </a:ext>
            </a:extLst>
          </p:cNvPr>
          <p:cNvSpPr txBox="1"/>
          <p:nvPr/>
        </p:nvSpPr>
        <p:spPr>
          <a:xfrm>
            <a:off x="6629400" y="4445000"/>
            <a:ext cx="4800600" cy="887422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Baselines</a:t>
            </a:r>
          </a:p>
          <a:p>
            <a:pPr marL="180000" indent="-180000" algn="l">
              <a:spcBef>
                <a:spcPts val="400"/>
              </a:spcBef>
              <a:buFont typeface="Arial"/>
              <a:buChar char="•"/>
            </a:pPr>
            <a:r>
              <a:rPr lang="en-US" sz="1400" b="1" dirty="0">
                <a:solidFill>
                  <a:srgbClr val="FFFFFF"/>
                </a:solidFill>
              </a:rPr>
              <a:t>Sparse — </a:t>
            </a:r>
            <a:r>
              <a:rPr lang="en-US" sz="1400" dirty="0">
                <a:solidFill>
                  <a:srgbClr val="B8C9DA"/>
                </a:solidFill>
              </a:rPr>
              <a:t>InstantSplat, ViewCrafter</a:t>
            </a:r>
          </a:p>
          <a:p>
            <a:pPr marL="180000" indent="-180000" algn="l">
              <a:spcBef>
                <a:spcPts val="400"/>
              </a:spcBef>
              <a:buFont typeface="Arial"/>
              <a:buChar char="•"/>
            </a:pPr>
            <a:r>
              <a:rPr lang="en-US" sz="1400" b="1" dirty="0">
                <a:solidFill>
                  <a:srgbClr val="FFFFFF"/>
                </a:solidFill>
              </a:rPr>
              <a:t>Dense — </a:t>
            </a:r>
            <a:r>
              <a:rPr lang="en-US" sz="1400" dirty="0">
                <a:solidFill>
                  <a:srgbClr val="B8C9DA"/>
                </a:solidFill>
              </a:rPr>
              <a:t>GANeRF, Nerfbusters method</a:t>
            </a:r>
          </a:p>
        </p:txBody>
      </p:sp>
    </p:spTree>
    <p:extLst>
      <p:ext uri="{BB962C8B-B14F-4D97-AF65-F5344CB8AC3E}">
        <p14:creationId xmlns:p14="http://schemas.microsoft.com/office/powerpoint/2010/main" val="152937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DB8F1-FD30-C43F-1EA1-AE8659E4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b="1" dirty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3" name="R_INTRO">
            <a:extLst>
              <a:ext uri="{FF2B5EF4-FFF2-40B4-BE49-F238E27FC236}">
                <a16:creationId xmlns:a16="http://schemas.microsoft.com/office/drawing/2014/main" id="{4DC73A12-9FEB-4993-82A8-891C23BAFD6A}"/>
              </a:ext>
            </a:extLst>
          </p:cNvPr>
          <p:cNvSpPr txBox="1"/>
          <p:nvPr/>
        </p:nvSpPr>
        <p:spPr>
          <a:xfrm>
            <a:off x="838200" y="1524000"/>
            <a:ext cx="105156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B8C9DA"/>
                </a:solidFill>
              </a:rPr>
              <a:t>We evaluate across three benchmarks covering sparse captures, dense out-of-distribution views, and casual recordings.</a:t>
            </a:r>
          </a:p>
        </p:txBody>
      </p:sp>
      <p:sp>
        <p:nvSpPr>
          <p:cNvPr id="4" name="R1_BG">
            <a:extLst>
              <a:ext uri="{FF2B5EF4-FFF2-40B4-BE49-F238E27FC236}">
                <a16:creationId xmlns:a16="http://schemas.microsoft.com/office/drawing/2014/main" id="{8F11A6A9-AC66-480D-88DE-93333DBD8280}"/>
              </a:ext>
            </a:extLst>
          </p:cNvPr>
          <p:cNvSpPr/>
          <p:nvPr/>
        </p:nvSpPr>
        <p:spPr>
          <a:xfrm>
            <a:off x="838200" y="2184400"/>
            <a:ext cx="3365500" cy="2413000"/>
          </a:xfrm>
          <a:prstGeom prst="roundRect">
            <a:avLst/>
          </a:prstGeom>
          <a:solidFill>
            <a:srgbClr val="1C2A3A"/>
          </a:solidFill>
          <a:ln w="12700" cap="flat" cmpd="sng" algn="ctr">
            <a:solidFill>
              <a:srgbClr val="3A4F6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1">
            <a:extLst>
              <a:ext uri="{FF2B5EF4-FFF2-40B4-BE49-F238E27FC236}">
                <a16:creationId xmlns:a16="http://schemas.microsoft.com/office/drawing/2014/main" id="{1B0BFC2E-A0DA-439D-AE66-C6C2DA88C92B}"/>
              </a:ext>
            </a:extLst>
          </p:cNvPr>
          <p:cNvSpPr txBox="1"/>
          <p:nvPr/>
        </p:nvSpPr>
        <p:spPr>
          <a:xfrm>
            <a:off x="1041400" y="2362200"/>
            <a:ext cx="2959100" cy="1633781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DL3DV140</a:t>
            </a:r>
          </a:p>
          <a:p>
            <a:pPr marL="0" indent="0" algn="l">
              <a:buNone/>
            </a:pPr>
            <a:r>
              <a:rPr lang="en-US" sz="1100" b="1" dirty="0">
                <a:solidFill>
                  <a:srgbClr val="9FB3C8"/>
                </a:solidFill>
              </a:rPr>
              <a:t>SPARSE INPUT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400" i="1" dirty="0">
                <a:solidFill>
                  <a:srgbClr val="B8C9DA"/>
                </a:solidFill>
              </a:rPr>
              <a:t>“Can you handle sparse input?”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400" dirty="0">
                <a:solidFill>
                  <a:srgbClr val="B8C9DA"/>
                </a:solidFill>
              </a:rPr>
              <a:t>Strong LPIPS gains over InstantSplat and ViewCrafter.</a:t>
            </a:r>
          </a:p>
          <a:p>
            <a:pPr marL="0" indent="0" algn="l">
              <a:spcBef>
                <a:spcPts val="700"/>
              </a:spcBef>
              <a:buNone/>
            </a:pPr>
            <a:r>
              <a:rPr lang="en-US" sz="1600" b="1" dirty="0">
                <a:solidFill>
                  <a:srgbClr val="E8C547"/>
                </a:solidFill>
              </a:rPr>
              <a:t>↓ LPIPS</a:t>
            </a:r>
            <a:r>
              <a:rPr lang="en-US" sz="1200" dirty="0">
                <a:solidFill>
                  <a:srgbClr val="9FB3C8"/>
                </a:solidFill>
              </a:rPr>
              <a:t> best vs. sparse baselines</a:t>
            </a:r>
          </a:p>
        </p:txBody>
      </p:sp>
      <p:sp>
        <p:nvSpPr>
          <p:cNvPr id="6" name="R2_BG">
            <a:extLst>
              <a:ext uri="{FF2B5EF4-FFF2-40B4-BE49-F238E27FC236}">
                <a16:creationId xmlns:a16="http://schemas.microsoft.com/office/drawing/2014/main" id="{2E0D5A51-A37B-4311-9482-4C3A755519FD}"/>
              </a:ext>
            </a:extLst>
          </p:cNvPr>
          <p:cNvSpPr/>
          <p:nvPr/>
        </p:nvSpPr>
        <p:spPr>
          <a:xfrm>
            <a:off x="4413250" y="2184400"/>
            <a:ext cx="3365500" cy="2413000"/>
          </a:xfrm>
          <a:prstGeom prst="roundRect">
            <a:avLst/>
          </a:prstGeom>
          <a:solidFill>
            <a:srgbClr val="1C2A3A"/>
          </a:solidFill>
          <a:ln w="12700" cap="flat" cmpd="sng" algn="ctr">
            <a:solidFill>
              <a:srgbClr val="3A4F6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2">
            <a:extLst>
              <a:ext uri="{FF2B5EF4-FFF2-40B4-BE49-F238E27FC236}">
                <a16:creationId xmlns:a16="http://schemas.microsoft.com/office/drawing/2014/main" id="{FFCF1DAB-A249-40F6-8134-5D4554635CB7}"/>
              </a:ext>
            </a:extLst>
          </p:cNvPr>
          <p:cNvSpPr txBox="1"/>
          <p:nvPr/>
        </p:nvSpPr>
        <p:spPr>
          <a:xfrm>
            <a:off x="4616450" y="2362200"/>
            <a:ext cx="2959100" cy="1849224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ScanNet++</a:t>
            </a:r>
          </a:p>
          <a:p>
            <a:pPr marL="0" indent="0" algn="l">
              <a:buNone/>
            </a:pPr>
            <a:r>
              <a:rPr lang="en-US" sz="1100" b="1" dirty="0">
                <a:solidFill>
                  <a:srgbClr val="9FB3C8"/>
                </a:solidFill>
              </a:rPr>
              <a:t>DENSE · OUT-OF-DISTRIBUTION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400" i="1" dirty="0">
                <a:solidFill>
                  <a:srgbClr val="B8C9DA"/>
                </a:solidFill>
              </a:rPr>
              <a:t>“Can you handle unseen viewpoints?”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400" dirty="0">
                <a:solidFill>
                  <a:srgbClr val="B8C9DA"/>
                </a:solidFill>
              </a:rPr>
              <a:t>Clear improvement over GANeRF, especially in LPIPS.</a:t>
            </a:r>
          </a:p>
          <a:p>
            <a:pPr marL="0" indent="0" algn="l">
              <a:spcBef>
                <a:spcPts val="700"/>
              </a:spcBef>
              <a:buNone/>
            </a:pPr>
            <a:r>
              <a:rPr lang="en-US" sz="1600" b="1" dirty="0">
                <a:solidFill>
                  <a:srgbClr val="E8C547"/>
                </a:solidFill>
              </a:rPr>
              <a:t>↓ LPIPS</a:t>
            </a:r>
            <a:r>
              <a:rPr lang="en-US" sz="1200" dirty="0">
                <a:solidFill>
                  <a:srgbClr val="9FB3C8"/>
                </a:solidFill>
              </a:rPr>
              <a:t> best vs. GANeRF</a:t>
            </a:r>
          </a:p>
        </p:txBody>
      </p:sp>
      <p:sp>
        <p:nvSpPr>
          <p:cNvPr id="8" name="R3_BG">
            <a:extLst>
              <a:ext uri="{FF2B5EF4-FFF2-40B4-BE49-F238E27FC236}">
                <a16:creationId xmlns:a16="http://schemas.microsoft.com/office/drawing/2014/main" id="{D4FE344D-D5BF-4D12-8FAD-392A4B37FD55}"/>
              </a:ext>
            </a:extLst>
          </p:cNvPr>
          <p:cNvSpPr/>
          <p:nvPr/>
        </p:nvSpPr>
        <p:spPr>
          <a:xfrm>
            <a:off x="7988300" y="2184400"/>
            <a:ext cx="3365500" cy="2413000"/>
          </a:xfrm>
          <a:prstGeom prst="roundRect">
            <a:avLst/>
          </a:prstGeom>
          <a:solidFill>
            <a:srgbClr val="1C2A3A"/>
          </a:solidFill>
          <a:ln w="12700" cap="flat" cmpd="sng" algn="ctr">
            <a:solidFill>
              <a:srgbClr val="3A4F6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3">
            <a:extLst>
              <a:ext uri="{FF2B5EF4-FFF2-40B4-BE49-F238E27FC236}">
                <a16:creationId xmlns:a16="http://schemas.microsoft.com/office/drawing/2014/main" id="{9F4CEF5A-1143-4F02-A040-05FBD245F392}"/>
              </a:ext>
            </a:extLst>
          </p:cNvPr>
          <p:cNvSpPr txBox="1"/>
          <p:nvPr/>
        </p:nvSpPr>
        <p:spPr>
          <a:xfrm>
            <a:off x="8191500" y="2362200"/>
            <a:ext cx="2959100" cy="2249334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Nerfbusters</a:t>
            </a:r>
          </a:p>
          <a:p>
            <a:pPr marL="0" indent="0" algn="l">
              <a:buNone/>
            </a:pPr>
            <a:r>
              <a:rPr lang="en-US" sz="1100" b="1" dirty="0">
                <a:solidFill>
                  <a:srgbClr val="9FB3C8"/>
                </a:solidFill>
              </a:rPr>
              <a:t>CASUAL CAPTURES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400" i="1" dirty="0">
                <a:solidFill>
                  <a:srgbClr val="B8C9DA"/>
                </a:solidFill>
              </a:rPr>
              <a:t>“Can you handle messy recordings?”</a:t>
            </a:r>
          </a:p>
          <a:p>
            <a:pPr marL="0" indent="0" algn="l">
              <a:spcBef>
                <a:spcPts val="500"/>
              </a:spcBef>
              <a:buNone/>
            </a:pPr>
            <a:r>
              <a:rPr lang="en-US" sz="1400" dirty="0">
                <a:solidFill>
                  <a:srgbClr val="B8C9DA"/>
                </a:solidFill>
              </a:rPr>
              <a:t>Higher PSNR / SSIM than the Nerfbusters method while holding Coverage.</a:t>
            </a:r>
          </a:p>
          <a:p>
            <a:pPr marL="0" indent="0" algn="l">
              <a:spcBef>
                <a:spcPts val="700"/>
              </a:spcBef>
              <a:buNone/>
            </a:pPr>
            <a:r>
              <a:rPr lang="en-US" sz="1600" b="1" dirty="0">
                <a:solidFill>
                  <a:srgbClr val="E8C547"/>
                </a:solidFill>
              </a:rPr>
              <a:t>↑ PSNR / SSIM</a:t>
            </a:r>
            <a:r>
              <a:rPr lang="en-US" sz="1200" dirty="0">
                <a:solidFill>
                  <a:srgbClr val="9FB3C8"/>
                </a:solidFill>
              </a:rPr>
              <a:t> Coverage maintained</a:t>
            </a:r>
          </a:p>
        </p:txBody>
      </p:sp>
      <p:sp>
        <p:nvSpPr>
          <p:cNvPr id="18" name="R_FIG">
            <a:extLst>
              <a:ext uri="{FF2B5EF4-FFF2-40B4-BE49-F238E27FC236}">
                <a16:creationId xmlns:a16="http://schemas.microsoft.com/office/drawing/2014/main" id="{4C21E344-84D7-40AC-B3A9-DA6FB1965FF9}"/>
              </a:ext>
            </a:extLst>
          </p:cNvPr>
          <p:cNvSpPr/>
          <p:nvPr/>
        </p:nvSpPr>
        <p:spPr>
          <a:xfrm>
            <a:off x="838200" y="4800600"/>
            <a:ext cx="10515600" cy="1701800"/>
          </a:xfrm>
          <a:prstGeom prst="rect">
            <a:avLst/>
          </a:prstGeom>
          <a:noFill/>
          <a:ln w="12700" cap="flat" cmpd="sng" algn="ctr">
            <a:solidFill>
              <a:srgbClr val="3A4F66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_FIGLBL">
            <a:extLst>
              <a:ext uri="{FF2B5EF4-FFF2-40B4-BE49-F238E27FC236}">
                <a16:creationId xmlns:a16="http://schemas.microsoft.com/office/drawing/2014/main" id="{4A80FE8D-138E-41B8-AEAD-476D91BB577F}"/>
              </a:ext>
            </a:extLst>
          </p:cNvPr>
          <p:cNvSpPr txBox="1"/>
          <p:nvPr/>
        </p:nvSpPr>
        <p:spPr>
          <a:xfrm>
            <a:off x="1016000" y="4902200"/>
            <a:ext cx="7595349" cy="292388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FB3C8"/>
                </a:solidFill>
              </a:rPr>
              <a:t>Qualitative comparison — Fig. 3 (DL3DV) / Fig. 4 (ScanNet++): artifact reduction vs. baselines</a:t>
            </a:r>
          </a:p>
        </p:txBody>
      </p:sp>
    </p:spTree>
    <p:extLst>
      <p:ext uri="{BB962C8B-B14F-4D97-AF65-F5344CB8AC3E}">
        <p14:creationId xmlns:p14="http://schemas.microsoft.com/office/powerpoint/2010/main" val="1739864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 [1780218368630]">
  <a:themeElements>
    <a:clrScheme name="Office">
      <a:dk1>
        <a:srgbClr val="E8ECF1"/>
      </a:dk1>
      <a:lt1>
        <a:srgbClr val="0E1116"/>
      </a:lt1>
      <a:dk2>
        <a:srgbClr val="C7D0DA"/>
      </a:dk2>
      <a:lt2>
        <a:srgbClr val="171C24"/>
      </a:lt2>
      <a:accent1>
        <a:srgbClr val="4D9FE6"/>
      </a:accent1>
      <a:accent2>
        <a:srgbClr val="3070B3"/>
      </a:accent2>
      <a:accent3>
        <a:srgbClr val="64A0C8"/>
      </a:accent3>
      <a:accent4>
        <a:srgbClr val="ED7D31"/>
      </a:accent4>
      <a:accent5>
        <a:srgbClr val="98C6EA"/>
      </a:accent5>
      <a:accent6>
        <a:srgbClr val="0A2D57"/>
      </a:accent6>
      <a:hlink>
        <a:srgbClr val="467886"/>
      </a:hlink>
      <a:folHlink>
        <a:srgbClr val="96607D"/>
      </a:folHlink>
    </a:clrScheme>
    <a:fontScheme name="Office">
      <a:majorFont>
        <a:latin typeface="Arial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7BF070-2D6F-449C-8391-FB82464DA716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d3798803-8f9b-445e-b952-2b666c03a53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1124</Words>
  <Application>Microsoft Office PowerPoint</Application>
  <PresentationFormat>Widescreen</PresentationFormat>
  <Paragraphs>139</Paragraphs>
  <Slides>15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Office Theme [1780218368630]</vt:lpstr>
      <vt:lpstr>PowerPoint Presentation</vt:lpstr>
      <vt:lpstr>FlowR — Flowing from Sparse to Dense 3D Reconstructions</vt:lpstr>
      <vt:lpstr>The problem</vt:lpstr>
      <vt:lpstr>Why flowR is important</vt:lpstr>
      <vt:lpstr>Problems with existing methods</vt:lpstr>
      <vt:lpstr>Datasets &amp; Evaluation</vt:lpstr>
      <vt:lpstr>Where FlowR sits</vt:lpstr>
      <vt:lpstr>Related Work</vt:lpstr>
      <vt:lpstr>Method Idea</vt:lpstr>
      <vt:lpstr>Dataset Generation Pipeline (1/2)</vt:lpstr>
      <vt:lpstr>Dataset Generation Pipeline (2/2)</vt:lpstr>
      <vt:lpstr>Flow Matching Model</vt:lpstr>
      <vt:lpstr>Improving 3D Reconstruction</vt:lpstr>
      <vt:lpstr>Experiment Setup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Cornett</dc:creator>
  <cp:lastModifiedBy>Alexander Cornett</cp:lastModifiedBy>
  <cp:revision>4</cp:revision>
  <dcterms:created xsi:type="dcterms:W3CDTF">2026-05-31T11:05:45Z</dcterms:created>
  <dcterms:modified xsi:type="dcterms:W3CDTF">2026-06-02T17:04:13Z</dcterms:modified>
</cp:coreProperties>
</file>